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9"/>
  </p:notesMasterIdLst>
  <p:sldIdLst>
    <p:sldId id="259" r:id="rId5"/>
    <p:sldId id="280" r:id="rId6"/>
    <p:sldId id="261" r:id="rId7"/>
    <p:sldId id="279" r:id="rId8"/>
    <p:sldId id="276" r:id="rId9"/>
    <p:sldId id="278" r:id="rId10"/>
    <p:sldId id="277" r:id="rId11"/>
    <p:sldId id="287" r:id="rId12"/>
    <p:sldId id="283" r:id="rId13"/>
    <p:sldId id="284" r:id="rId14"/>
    <p:sldId id="285" r:id="rId15"/>
    <p:sldId id="286" r:id="rId16"/>
    <p:sldId id="28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B3A2"/>
    <a:srgbClr val="1F4E4A"/>
    <a:srgbClr val="8FA3A1"/>
    <a:srgbClr val="AFB3B2"/>
    <a:srgbClr val="202124"/>
    <a:srgbClr val="D8B35A"/>
    <a:srgbClr val="EAF2F0"/>
    <a:srgbClr val="F3F6F6"/>
    <a:srgbClr val="D9A441"/>
    <a:srgbClr val="1F3D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66616-EBCB-43F1-9D4B-79CDC8CEF7E6}" v="2940" dt="2026-01-16T18:08:26.285"/>
    <p1510:client id="{31B19723-A3D4-4F9E-9F15-921F3A30F156}" v="2528" dt="2026-01-15T23:29:38.009"/>
    <p1510:client id="{B8DFC3C3-1CC8-4291-A3C0-BBD77EDD4027}" v="2147" dt="2026-01-16T18:11:46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10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66635-4EFA-401B-BCA8-437661AD7FF9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529D0-0610-4BA9-B527-89DCF439EB1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351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CE0BBF-F738-3774-A284-8A2F361ED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441325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rgbClr val="1F4E4A"/>
                </a:solidFill>
                <a:latin typeface="+mj-lt"/>
              </a:defRPr>
            </a:lvl1pPr>
          </a:lstStyle>
          <a:p>
            <a:r>
              <a:rPr lang="en-GB"/>
              <a:t>Titel-</a:t>
            </a:r>
            <a:r>
              <a:rPr lang="en-GB" err="1"/>
              <a:t>Platzhalter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50F1FFB-A32A-C393-13D5-B2E8809341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20818"/>
            <a:ext cx="9144000" cy="11822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</a:t>
            </a:r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C65D4E5-435C-7AA8-EF79-653EB39C767D}"/>
              </a:ext>
            </a:extLst>
          </p:cNvPr>
          <p:cNvSpPr/>
          <p:nvPr userDrawn="1"/>
        </p:nvSpPr>
        <p:spPr>
          <a:xfrm rot="16200000">
            <a:off x="5917826" y="-5917827"/>
            <a:ext cx="356347" cy="12192000"/>
          </a:xfrm>
          <a:prstGeom prst="rect">
            <a:avLst/>
          </a:prstGeom>
          <a:solidFill>
            <a:srgbClr val="1F4E4A"/>
          </a:solidFill>
          <a:ln>
            <a:solidFill>
              <a:srgbClr val="1F4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877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2E8D93-5EA0-9283-B945-B6E7DD5A6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2" y="1700213"/>
            <a:ext cx="11145363" cy="96587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E244BCB-2A45-0423-3C87-E87EDB9BFDA5}"/>
              </a:ext>
            </a:extLst>
          </p:cNvPr>
          <p:cNvSpPr/>
          <p:nvPr userDrawn="1"/>
        </p:nvSpPr>
        <p:spPr>
          <a:xfrm>
            <a:off x="497541" y="2545060"/>
            <a:ext cx="9197788" cy="50222"/>
          </a:xfrm>
          <a:prstGeom prst="roundRect">
            <a:avLst/>
          </a:prstGeom>
          <a:solidFill>
            <a:srgbClr val="5FB3A2"/>
          </a:solidFill>
          <a:ln>
            <a:solidFill>
              <a:srgbClr val="5FB3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53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405C5D-F6C7-71C0-93E2-C4B9DF18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9663AF6-953D-36EB-43FB-0DFB2358B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39041" y="6366155"/>
            <a:ext cx="510427" cy="365125"/>
          </a:xfrm>
        </p:spPr>
        <p:txBody>
          <a:bodyPr/>
          <a:lstStyle/>
          <a:p>
            <a:r>
              <a:rPr lang="en-GB" b="1"/>
              <a:t>| 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58203CFC-F83A-7ED3-2BFD-5211483354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1312" y="1700213"/>
            <a:ext cx="11145362" cy="4848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2"/>
            <a:r>
              <a:rPr lang="de-DE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56456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405C5D-F6C7-71C0-93E2-C4B9DF18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9663AF6-953D-36EB-43FB-0DFB2358B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58203CFC-F83A-7ED3-2BFD-521148335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12" y="1700213"/>
            <a:ext cx="11145362" cy="4861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433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E97461-33B9-0450-41EA-75421F78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D532-6853-4AB4-9533-57FBE8F3A5C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55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BE2E07C-979A-BD09-1324-70484B30B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1" y="472964"/>
            <a:ext cx="11145363" cy="9658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87D334-7BB8-CE2E-8425-C7876C66E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312" y="1700213"/>
            <a:ext cx="11145362" cy="4445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9C5E90-D55D-F7CC-2823-3645CF414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6247" y="6356350"/>
            <a:ext cx="510427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900">
                <a:solidFill>
                  <a:srgbClr val="8FA3A1"/>
                </a:solidFill>
              </a:defRPr>
            </a:lvl1pPr>
          </a:lstStyle>
          <a:p>
            <a:r>
              <a:rPr lang="en-GB" b="1"/>
              <a:t> </a:t>
            </a:r>
            <a:fld id="{8936DF29-42F4-44B9-AABD-9FEFF8C3B384}" type="slidenum">
              <a:rPr lang="en-GB" smtClean="0"/>
              <a:pPr/>
              <a:t>‹Nr.›</a:t>
            </a:fld>
            <a:r>
              <a:rPr lang="en-GB"/>
              <a:t> </a:t>
            </a:r>
            <a:r>
              <a:rPr lang="en-GB" b="1"/>
              <a:t>|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31D8933-ADE5-AF0F-22BF-E2B551B4D1E1}"/>
              </a:ext>
            </a:extLst>
          </p:cNvPr>
          <p:cNvSpPr/>
          <p:nvPr userDrawn="1"/>
        </p:nvSpPr>
        <p:spPr>
          <a:xfrm>
            <a:off x="11760000" y="0"/>
            <a:ext cx="432000" cy="6858000"/>
          </a:xfrm>
          <a:prstGeom prst="rect">
            <a:avLst/>
          </a:prstGeom>
          <a:solidFill>
            <a:srgbClr val="1F4E4A"/>
          </a:solidFill>
          <a:ln>
            <a:solidFill>
              <a:srgbClr val="1F4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66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1F4E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rgbClr val="20212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9" userDrawn="1">
          <p15:clr>
            <a:srgbClr val="F26B43"/>
          </p15:clr>
        </p15:guide>
        <p15:guide id="2" pos="7628" userDrawn="1">
          <p15:clr>
            <a:srgbClr val="F26B43"/>
          </p15:clr>
        </p15:guide>
        <p15:guide id="3" orient="horz" pos="4247" userDrawn="1">
          <p15:clr>
            <a:srgbClr val="F26B43"/>
          </p15:clr>
        </p15:guide>
        <p15:guide id="4" pos="52" userDrawn="1">
          <p15:clr>
            <a:srgbClr val="F26B43"/>
          </p15:clr>
        </p15:guide>
        <p15:guide id="5" orient="horz" pos="278" userDrawn="1">
          <p15:clr>
            <a:srgbClr val="F26B43"/>
          </p15:clr>
        </p15:guide>
        <p15:guide id="6" orient="horz" pos="913" userDrawn="1">
          <p15:clr>
            <a:srgbClr val="F26B43"/>
          </p15:clr>
        </p15:guide>
        <p15:guide id="7" pos="7242" userDrawn="1">
          <p15:clr>
            <a:srgbClr val="F26B43"/>
          </p15:clr>
        </p15:guide>
        <p15:guide id="8" pos="211" userDrawn="1">
          <p15:clr>
            <a:srgbClr val="F26B43"/>
          </p15:clr>
        </p15:guide>
        <p15:guide id="9" orient="horz" pos="1071" userDrawn="1">
          <p15:clr>
            <a:srgbClr val="F26B43"/>
          </p15:clr>
        </p15:guide>
        <p15:guide id="10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79F822-3EAC-EF0B-9602-7BA22FF39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2379" y="1462354"/>
            <a:ext cx="8730721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/>
              <a:t>Execution Deviations in the Order-to-Cash Process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50E5A86-5F3B-E077-6B51-4CA58762D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1700" y="3724638"/>
            <a:ext cx="9144000" cy="1182241"/>
          </a:xfrm>
        </p:spPr>
        <p:txBody>
          <a:bodyPr>
            <a:normAutofit/>
          </a:bodyPr>
          <a:lstStyle/>
          <a:p>
            <a:pPr algn="l"/>
            <a:r>
              <a:rPr lang="en-GB" sz="2000" dirty="0"/>
              <a:t>From Planned Flow to Execution Risk</a:t>
            </a:r>
            <a:endParaRPr lang="en-US" sz="2000" noProof="0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6014472-2BBF-BE26-03A6-BAB5A68D2615}"/>
              </a:ext>
            </a:extLst>
          </p:cNvPr>
          <p:cNvSpPr/>
          <p:nvPr/>
        </p:nvSpPr>
        <p:spPr>
          <a:xfrm>
            <a:off x="0" y="-1"/>
            <a:ext cx="12192000" cy="613833"/>
          </a:xfrm>
          <a:prstGeom prst="rect">
            <a:avLst/>
          </a:prstGeom>
          <a:solidFill>
            <a:srgbClr val="1F4E4A"/>
          </a:solidFill>
          <a:ln>
            <a:solidFill>
              <a:srgbClr val="1F4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6" name="Grafik 15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F0DE353C-1D37-E1CD-1C13-9FC5DE329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29" y="2117428"/>
            <a:ext cx="2959578" cy="230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334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B9AB81-09D4-983A-8BC1-609CCF2B7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59" y="260467"/>
            <a:ext cx="11145363" cy="965871"/>
          </a:xfrm>
        </p:spPr>
        <p:txBody>
          <a:bodyPr>
            <a:normAutofit fontScale="90000"/>
          </a:bodyPr>
          <a:lstStyle/>
          <a:p>
            <a:r>
              <a:rPr lang="en-US" noProof="0" err="1">
                <a:ea typeface="+mj-lt"/>
                <a:cs typeface="+mj-lt"/>
              </a:rPr>
              <a:t>Woodcorp’s</a:t>
            </a:r>
            <a:r>
              <a:rPr lang="en-US" noProof="0">
                <a:ea typeface="+mj-lt"/>
                <a:cs typeface="+mj-lt"/>
              </a:rPr>
              <a:t> operating model structurally amplifies O2C execution deviations</a:t>
            </a:r>
            <a:endParaRPr lang="en-US" noProof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AACF8E5-8298-1C2A-A68E-72E555276A09}"/>
              </a:ext>
            </a:extLst>
          </p:cNvPr>
          <p:cNvSpPr txBox="1"/>
          <p:nvPr/>
        </p:nvSpPr>
        <p:spPr>
          <a:xfrm>
            <a:off x="6096000" y="1700213"/>
            <a:ext cx="5603125" cy="21082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400" b="1" noProof="0"/>
              <a:t>Operational Footprint</a:t>
            </a:r>
          </a:p>
          <a:p>
            <a:pPr>
              <a:buNone/>
            </a:pPr>
            <a:endParaRPr lang="en-US" sz="1200" b="1" noProof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noProof="0">
                <a:ea typeface="+mn-lt"/>
                <a:cs typeface="+mn-lt"/>
              </a:rPr>
              <a:t>Multi-plant production network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noProof="0">
                <a:ea typeface="+mn-lt"/>
                <a:cs typeface="+mn-lt"/>
              </a:rPr>
              <a:t>Mixed automation levels</a:t>
            </a:r>
            <a:endParaRPr lang="en-US" sz="1400" noProof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noProof="0">
                <a:ea typeface="+mn-lt"/>
                <a:cs typeface="+mn-lt"/>
              </a:rPr>
              <a:t>Multiple external logistics providers</a:t>
            </a:r>
          </a:p>
          <a:p>
            <a:pPr lvl="0">
              <a:spcBef>
                <a:spcPct val="0"/>
              </a:spcBef>
              <a:spcAft>
                <a:spcPct val="0"/>
              </a:spcAft>
            </a:pPr>
            <a:endParaRPr lang="en-US" sz="1200" noProof="0"/>
          </a:p>
          <a:p>
            <a:pPr>
              <a:buNone/>
            </a:pPr>
            <a:r>
              <a:rPr lang="en-US" sz="1200" noProof="0"/>
              <a:t>This setup </a:t>
            </a:r>
            <a:r>
              <a:rPr lang="en-US" sz="1200" b="1" noProof="0"/>
              <a:t>increases coordination effort after order release </a:t>
            </a:r>
          </a:p>
          <a:p>
            <a:pPr>
              <a:buNone/>
            </a:pPr>
            <a:r>
              <a:rPr lang="en-US" sz="900" noProof="0">
                <a:solidFill>
                  <a:srgbClr val="1F4E4A"/>
                </a:solidFill>
              </a:rPr>
              <a:t>(</a:t>
            </a:r>
            <a:r>
              <a:rPr lang="en-US" sz="900" b="1" noProof="0">
                <a:solidFill>
                  <a:srgbClr val="1F4E4A"/>
                </a:solidFill>
              </a:rPr>
              <a:t>order release </a:t>
            </a:r>
            <a:r>
              <a:rPr lang="en-US" sz="900" noProof="0">
                <a:solidFill>
                  <a:srgbClr val="1F4E4A"/>
                </a:solidFill>
              </a:rPr>
              <a:t>= the point in the Order-to-Cash process where a confirmed sales order is handed over to production and logistics for execution)</a:t>
            </a:r>
            <a:endParaRPr lang="en-US" sz="1200" noProof="0">
              <a:solidFill>
                <a:srgbClr val="1F4E4A"/>
              </a:solidFill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60CE003B-5C7A-1DA5-BC32-69D8286C17FD}"/>
              </a:ext>
            </a:extLst>
          </p:cNvPr>
          <p:cNvSpPr/>
          <p:nvPr/>
        </p:nvSpPr>
        <p:spPr>
          <a:xfrm>
            <a:off x="5901132" y="1619250"/>
            <a:ext cx="55168" cy="4833159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3E6EE39-6C8F-EC96-532C-B233D700E45C}"/>
              </a:ext>
            </a:extLst>
          </p:cNvPr>
          <p:cNvSpPr txBox="1"/>
          <p:nvPr/>
        </p:nvSpPr>
        <p:spPr>
          <a:xfrm>
            <a:off x="492875" y="1711451"/>
            <a:ext cx="5190374" cy="34317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sz="1400" b="1" noProof="0"/>
              <a:t>Company Overview</a:t>
            </a:r>
          </a:p>
          <a:p>
            <a:pPr marL="0" indent="0">
              <a:buNone/>
            </a:pPr>
            <a:endParaRPr lang="en-US" sz="1200" b="1" noProof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noProof="0">
                <a:ea typeface="+mn-lt"/>
                <a:cs typeface="+mn-lt"/>
              </a:rPr>
              <a:t>German mid-sized industrial manufacturer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noProof="0">
                <a:ea typeface="+mn-lt"/>
                <a:cs typeface="+mn-lt"/>
              </a:rPr>
              <a:t>Make-to-order with limited finished-goods buffers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noProof="0"/>
              <a:t>€210.1M total revenue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noProof="0">
                <a:ea typeface="+mn-lt"/>
                <a:cs typeface="+mn-lt"/>
              </a:rPr>
              <a:t>~19,953 sales orders</a:t>
            </a:r>
            <a:endParaRPr lang="en-US" sz="1400" noProof="0"/>
          </a:p>
          <a:p>
            <a:pPr>
              <a:lnSpc>
                <a:spcPct val="150000"/>
              </a:lnSpc>
            </a:pPr>
            <a:r>
              <a:rPr lang="en-US" sz="1400" noProof="0">
                <a:ea typeface="+mn-lt"/>
                <a:cs typeface="+mn-lt"/>
              </a:rPr>
              <a:t>Top customers generate a significant share of revenue.</a:t>
            </a:r>
            <a:endParaRPr lang="en-US" sz="1400" noProof="0"/>
          </a:p>
          <a:p>
            <a:pPr marL="285750" indent="-285750">
              <a:buFont typeface="Arial"/>
              <a:buChar char="•"/>
            </a:pPr>
            <a:r>
              <a:rPr lang="en-US" sz="1400" noProof="0"/>
              <a:t>Brand AG (€19.5M), Götz (€17.0M), Jürgens (€12.4M)</a:t>
            </a:r>
          </a:p>
          <a:p>
            <a:pPr>
              <a:lnSpc>
                <a:spcPct val="150000"/>
              </a:lnSpc>
            </a:pPr>
            <a:endParaRPr lang="en-US" sz="1400" noProof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1400" b="1" noProof="0"/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200" b="1" noProof="0"/>
          </a:p>
          <a:p>
            <a:endParaRPr lang="en-US" noProof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E430387-FEC6-B54D-ECBE-FC55DAA83BF3}"/>
              </a:ext>
            </a:extLst>
          </p:cNvPr>
          <p:cNvSpPr txBox="1"/>
          <p:nvPr/>
        </p:nvSpPr>
        <p:spPr>
          <a:xfrm>
            <a:off x="6096000" y="5263903"/>
            <a:ext cx="4924682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 dirty="0">
                <a:highlight>
                  <a:srgbClr val="5FB3A2"/>
                </a:highlight>
              </a:rPr>
              <a:t>Why This Matters</a:t>
            </a:r>
          </a:p>
          <a:p>
            <a:r>
              <a:rPr lang="en-GB" sz="1400" dirty="0" err="1"/>
              <a:t>Woodcorp’s</a:t>
            </a:r>
            <a:r>
              <a:rPr lang="en-GB" sz="1400" dirty="0"/>
              <a:t> operating setup leads to </a:t>
            </a:r>
            <a:r>
              <a:rPr lang="en-GB" sz="1400" b="1" dirty="0"/>
              <a:t>frequent post-release changes</a:t>
            </a:r>
            <a:r>
              <a:rPr lang="en-GB" sz="1400" dirty="0"/>
              <a:t> in the</a:t>
            </a:r>
            <a:br>
              <a:rPr lang="en-GB" sz="1400" dirty="0"/>
            </a:br>
            <a:r>
              <a:rPr lang="en-GB" sz="1400" dirty="0"/>
              <a:t>Order-to-Cash process, directly affecting </a:t>
            </a:r>
            <a:r>
              <a:rPr lang="en-GB" sz="1400" b="1" dirty="0"/>
              <a:t>delivery reliability and planning stability</a:t>
            </a:r>
            <a:r>
              <a:rPr lang="en-GB" sz="1400" dirty="0"/>
              <a:t> for key customers.</a:t>
            </a:r>
            <a:endParaRPr lang="en-US" sz="1600" noProof="0" dirty="0">
              <a:ea typeface="+mn-lt"/>
              <a:cs typeface="+mn-lt"/>
            </a:endParaRPr>
          </a:p>
        </p:txBody>
      </p:sp>
      <p:pic>
        <p:nvPicPr>
          <p:cNvPr id="4" name="Grafik 3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06CCCD46-1285-6377-19A3-DB6D4AE20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pic>
        <p:nvPicPr>
          <p:cNvPr id="17" name="Grafik 16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55A00485-05C0-4471-3170-35B688118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00" y="3916671"/>
            <a:ext cx="1400527" cy="1206699"/>
          </a:xfrm>
          <a:prstGeom prst="rect">
            <a:avLst/>
          </a:prstGeom>
        </p:spPr>
      </p:pic>
      <p:graphicFrame>
        <p:nvGraphicFramePr>
          <p:cNvPr id="19" name="Tabelle 18">
            <a:extLst>
              <a:ext uri="{FF2B5EF4-FFF2-40B4-BE49-F238E27FC236}">
                <a16:creationId xmlns:a16="http://schemas.microsoft.com/office/drawing/2014/main" id="{EC1D000C-11BC-41BF-3F4B-4948B4343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956215"/>
              </p:ext>
            </p:extLst>
          </p:nvPr>
        </p:nvGraphicFramePr>
        <p:xfrm>
          <a:off x="564000" y="4662000"/>
          <a:ext cx="5117484" cy="1554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9371">
                  <a:extLst>
                    <a:ext uri="{9D8B030D-6E8A-4147-A177-3AD203B41FA5}">
                      <a16:colId xmlns:a16="http://schemas.microsoft.com/office/drawing/2014/main" val="3279964011"/>
                    </a:ext>
                  </a:extLst>
                </a:gridCol>
                <a:gridCol w="1279371">
                  <a:extLst>
                    <a:ext uri="{9D8B030D-6E8A-4147-A177-3AD203B41FA5}">
                      <a16:colId xmlns:a16="http://schemas.microsoft.com/office/drawing/2014/main" val="3437490672"/>
                    </a:ext>
                  </a:extLst>
                </a:gridCol>
                <a:gridCol w="1279371">
                  <a:extLst>
                    <a:ext uri="{9D8B030D-6E8A-4147-A177-3AD203B41FA5}">
                      <a16:colId xmlns:a16="http://schemas.microsoft.com/office/drawing/2014/main" val="2831385677"/>
                    </a:ext>
                  </a:extLst>
                </a:gridCol>
                <a:gridCol w="1279371">
                  <a:extLst>
                    <a:ext uri="{9D8B030D-6E8A-4147-A177-3AD203B41FA5}">
                      <a16:colId xmlns:a16="http://schemas.microsoft.com/office/drawing/2014/main" val="2505263111"/>
                    </a:ext>
                  </a:extLst>
                </a:gridCol>
              </a:tblGrid>
              <a:tr h="364434">
                <a:tc>
                  <a:txBody>
                    <a:bodyPr/>
                    <a:lstStyle/>
                    <a:p>
                      <a:r>
                        <a:rPr lang="en-US" sz="1200" noProof="0"/>
                        <a:t>Product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Typical 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Operational Characteristics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181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noProof="0"/>
                        <a:t>Pallets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Standardized wooden pallets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Transport, storage, 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High volume, lower unit price, tolerance-sensitive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9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noProof="0"/>
                        <a:t>Crates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Custom wooden crates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Industrial goods, heavy 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Make-to-order, higher variability, higher unit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768444"/>
                  </a:ext>
                </a:extLst>
              </a:tr>
            </a:tbl>
          </a:graphicData>
        </a:graphic>
      </p:graphicFrame>
      <p:sp>
        <p:nvSpPr>
          <p:cNvPr id="20" name="Textfeld 19">
            <a:extLst>
              <a:ext uri="{FF2B5EF4-FFF2-40B4-BE49-F238E27FC236}">
                <a16:creationId xmlns:a16="http://schemas.microsoft.com/office/drawing/2014/main" id="{D3F83F24-32FA-648B-3B9C-E4D4E34A1304}"/>
              </a:ext>
            </a:extLst>
          </p:cNvPr>
          <p:cNvSpPr txBox="1"/>
          <p:nvPr/>
        </p:nvSpPr>
        <p:spPr>
          <a:xfrm>
            <a:off x="492000" y="4275000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noProof="0">
                <a:solidFill>
                  <a:srgbClr val="202124"/>
                </a:solidFill>
                <a:latin typeface="IBM Plex Sans"/>
              </a:rPr>
              <a:t>Product Catalog</a:t>
            </a:r>
            <a:endParaRPr lang="en-US" noProof="0"/>
          </a:p>
          <a:p>
            <a:pPr algn="ctr"/>
            <a:endParaRPr lang="en-US" noProof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88B6B61-69A2-B3B1-CEF8-E9E6507DC2A7}"/>
              </a:ext>
            </a:extLst>
          </p:cNvPr>
          <p:cNvSpPr txBox="1"/>
          <p:nvPr/>
        </p:nvSpPr>
        <p:spPr>
          <a:xfrm>
            <a:off x="406402" y="1093662"/>
            <a:ext cx="10185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/>
              <a:t>Evidence from Order-to-Cash execution data (≈20k orders)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65CB745-A2E2-5B61-B34D-2541BB5EE1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1</a:t>
            </a:r>
          </a:p>
        </p:txBody>
      </p:sp>
    </p:spTree>
    <p:extLst>
      <p:ext uri="{BB962C8B-B14F-4D97-AF65-F5344CB8AC3E}">
        <p14:creationId xmlns:p14="http://schemas.microsoft.com/office/powerpoint/2010/main" val="2274049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54AEED-CD83-15B0-982A-066AD020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/>
              <a:t>O2C Execution Deviations Undermine Planning Stability and Require Targeted Management Action</a:t>
            </a:r>
            <a:endParaRPr lang="en-US" b="1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24BBFB-3486-E1AB-6F29-8810272E4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12" y="1712213"/>
            <a:ext cx="4913038" cy="48365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 noProof="0"/>
              <a:t>Executive Objective </a:t>
            </a:r>
          </a:p>
          <a:p>
            <a:pPr marL="0" indent="0">
              <a:buNone/>
            </a:pPr>
            <a:r>
              <a:rPr lang="en-US" sz="1400" noProof="0"/>
              <a:t>The objective of this analysis is to support operational decision-making by: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noProof="0">
                <a:solidFill>
                  <a:schemeClr val="tx1"/>
                </a:solidFill>
              </a:rPr>
              <a:t>Creating transparency on </a:t>
            </a:r>
            <a:r>
              <a:rPr lang="en-US" sz="1400" b="1" noProof="0">
                <a:solidFill>
                  <a:schemeClr val="tx1"/>
                </a:solidFill>
              </a:rPr>
              <a:t>actual O2C execution behavior</a:t>
            </a:r>
            <a:endParaRPr lang="en-US" sz="1400" noProof="0">
              <a:solidFill>
                <a:schemeClr val="tx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noProof="0">
                <a:solidFill>
                  <a:schemeClr val="tx1"/>
                </a:solidFill>
              </a:rPr>
              <a:t>Identifying </a:t>
            </a:r>
            <a:r>
              <a:rPr lang="en-US" sz="1400" b="1" noProof="0">
                <a:solidFill>
                  <a:schemeClr val="tx1"/>
                </a:solidFill>
              </a:rPr>
              <a:t>systematic execution gaps</a:t>
            </a:r>
            <a:r>
              <a:rPr lang="en-US" sz="1400" noProof="0">
                <a:solidFill>
                  <a:schemeClr val="tx1"/>
                </a:solidFill>
              </a:rPr>
              <a:t> with operational impact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noProof="0">
                <a:solidFill>
                  <a:schemeClr val="tx1"/>
                </a:solidFill>
              </a:rPr>
              <a:t>Translating insights into </a:t>
            </a:r>
            <a:r>
              <a:rPr lang="en-US" sz="1400" b="1" noProof="0">
                <a:solidFill>
                  <a:schemeClr val="tx1"/>
                </a:solidFill>
              </a:rPr>
              <a:t>prioritized management actions</a:t>
            </a:r>
            <a:endParaRPr lang="en-US" sz="1400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400" noProof="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noProof="0"/>
              <a:t>Executive Focus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noProof="0">
                <a:solidFill>
                  <a:schemeClr val="tx1"/>
                </a:solidFill>
                <a:latin typeface="IBM Plex Sans"/>
                <a:cs typeface="Arial"/>
              </a:rPr>
              <a:t>Decision support for operations and process owners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noProof="0">
                <a:solidFill>
                  <a:schemeClr val="tx1"/>
                </a:solidFill>
                <a:latin typeface="IBM Plex Sans"/>
                <a:cs typeface="Arial"/>
              </a:rPr>
              <a:t>No tool demonstration or technical deep dive</a:t>
            </a:r>
          </a:p>
          <a:p>
            <a:pPr marL="0" indent="0">
              <a:buNone/>
            </a:pPr>
            <a:endParaRPr lang="en-US" sz="1400" b="1" noProof="0">
              <a:highlight>
                <a:srgbClr val="5FB3A2"/>
              </a:highlight>
            </a:endParaRPr>
          </a:p>
        </p:txBody>
      </p:sp>
      <p:pic>
        <p:nvPicPr>
          <p:cNvPr id="6" name="Grafik 5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B39B039B-B2D4-4E5F-B2DE-EE74273D0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5E631E7-FDC0-150F-BDF5-D0FA75D86A3B}"/>
              </a:ext>
            </a:extLst>
          </p:cNvPr>
          <p:cNvSpPr txBox="1"/>
          <p:nvPr/>
        </p:nvSpPr>
        <p:spPr>
          <a:xfrm>
            <a:off x="6161100" y="1762750"/>
            <a:ext cx="4771000" cy="29546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sz="1600" b="1" noProof="0" dirty="0">
                <a:highlight>
                  <a:srgbClr val="D8B35A"/>
                </a:highlight>
              </a:rPr>
              <a:t>Key Stakeholders</a:t>
            </a:r>
          </a:p>
          <a:p>
            <a:pPr marL="0" indent="0">
              <a:buNone/>
            </a:pPr>
            <a:endParaRPr lang="en-US" sz="1600" b="1" noProof="0" dirty="0"/>
          </a:p>
          <a:p>
            <a:r>
              <a:rPr lang="en-US" sz="1400" b="1" noProof="0" dirty="0"/>
              <a:t>Primary Audience</a:t>
            </a:r>
            <a:endParaRPr lang="en-US" sz="1400" noProof="0" dirty="0"/>
          </a:p>
          <a:p>
            <a:r>
              <a:rPr lang="en-US" sz="1400" b="1" noProof="0" dirty="0">
                <a:highlight>
                  <a:srgbClr val="D8B35A"/>
                </a:highlight>
              </a:rPr>
              <a:t>O2C Process Owner</a:t>
            </a:r>
            <a:r>
              <a:rPr lang="en-US" sz="1400" noProof="0" dirty="0">
                <a:highlight>
                  <a:srgbClr val="D8B35A"/>
                </a:highlight>
              </a:rPr>
              <a:t> </a:t>
            </a:r>
            <a:r>
              <a:rPr lang="en-US" sz="1400" noProof="0" dirty="0"/>
              <a:t>– end-to-end accountability for execution performance</a:t>
            </a:r>
          </a:p>
          <a:p>
            <a:endParaRPr lang="en-US" sz="1400" noProof="0" dirty="0"/>
          </a:p>
          <a:p>
            <a:r>
              <a:rPr lang="en-US" sz="1400" b="1" noProof="0" dirty="0"/>
              <a:t>Relevance for the O2C Process Owner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visibility into where execution breaks down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clear link between execution behavior and planning instability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fact-based basis for </a:t>
            </a:r>
            <a:r>
              <a:rPr lang="en-US" altLang="en-US" sz="1400" b="1" dirty="0"/>
              <a:t>targeted action</a:t>
            </a:r>
            <a:r>
              <a:rPr lang="en-US" altLang="en-US" sz="1400" dirty="0"/>
              <a:t>, not blanket initiatives</a:t>
            </a:r>
          </a:p>
          <a:p>
            <a:pPr marL="0" indent="0">
              <a:buNone/>
            </a:pPr>
            <a:endParaRPr lang="en-US" sz="1400" b="1" noProof="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9D2387E-EDA6-CA29-EC87-9E1A18AA48FC}"/>
              </a:ext>
            </a:extLst>
          </p:cNvPr>
          <p:cNvSpPr txBox="1"/>
          <p:nvPr/>
        </p:nvSpPr>
        <p:spPr>
          <a:xfrm>
            <a:off x="6096000" y="5041320"/>
            <a:ext cx="4773415" cy="9848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 dirty="0">
                <a:highlight>
                  <a:srgbClr val="5FB3A2"/>
                </a:highlight>
              </a:rPr>
              <a:t>Why This Matters</a:t>
            </a:r>
            <a:endParaRPr lang="en-US" sz="1200" noProof="0" dirty="0"/>
          </a:p>
          <a:p>
            <a:r>
              <a:rPr lang="en-GB" sz="1400" dirty="0"/>
              <a:t>Without a fact-based view on execution </a:t>
            </a:r>
            <a:r>
              <a:rPr lang="en-GB" sz="1400" dirty="0" err="1"/>
              <a:t>behavior</a:t>
            </a:r>
            <a:r>
              <a:rPr lang="en-GB" sz="1400" dirty="0"/>
              <a:t>,</a:t>
            </a:r>
            <a:br>
              <a:rPr lang="en-GB" sz="1400" dirty="0"/>
            </a:br>
            <a:r>
              <a:rPr lang="en-GB" sz="1400" dirty="0"/>
              <a:t>improvement initiatives often focus on </a:t>
            </a:r>
            <a:r>
              <a:rPr lang="en-GB" sz="1400" b="1" dirty="0"/>
              <a:t>symptoms instead of underlying execution patterns</a:t>
            </a:r>
            <a:r>
              <a:rPr lang="en-GB" sz="1400" dirty="0"/>
              <a:t>.</a:t>
            </a:r>
            <a:endParaRPr lang="en-US" sz="1400" noProof="0" dirty="0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A2991F2A-7A1E-5FE8-531F-DF82AF607A67}"/>
              </a:ext>
            </a:extLst>
          </p:cNvPr>
          <p:cNvSpPr/>
          <p:nvPr/>
        </p:nvSpPr>
        <p:spPr>
          <a:xfrm>
            <a:off x="5697132" y="1712212"/>
            <a:ext cx="48818" cy="4896197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6B85758-1D6D-ACE2-7C25-30982BEB6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2 </a:t>
            </a:r>
          </a:p>
        </p:txBody>
      </p:sp>
    </p:spTree>
    <p:extLst>
      <p:ext uri="{BB962C8B-B14F-4D97-AF65-F5344CB8AC3E}">
        <p14:creationId xmlns:p14="http://schemas.microsoft.com/office/powerpoint/2010/main" val="3988221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F8865E-DC1D-CC86-CFC6-C715B8351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/>
              <a:t>Operational Issue Requires Two Different Management Responses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607D0F0-0C4D-DE6F-FC9B-2369476F339E}"/>
              </a:ext>
            </a:extLst>
          </p:cNvPr>
          <p:cNvSpPr txBox="1"/>
          <p:nvPr/>
        </p:nvSpPr>
        <p:spPr>
          <a:xfrm>
            <a:off x="351311" y="1612116"/>
            <a:ext cx="5114846" cy="31700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 dirty="0"/>
              <a:t>Observed Core Patterns</a:t>
            </a:r>
          </a:p>
          <a:p>
            <a:pPr>
              <a:buNone/>
            </a:pPr>
            <a:endParaRPr lang="en-US" sz="1200" b="1" noProof="0" dirty="0"/>
          </a:p>
          <a:p>
            <a:r>
              <a:rPr lang="en-GB" sz="1200" dirty="0"/>
              <a:t>The analysis shows </a:t>
            </a:r>
            <a:r>
              <a:rPr lang="en-GB" sz="1200" b="1" dirty="0"/>
              <a:t>recurring execution gaps</a:t>
            </a:r>
            <a:r>
              <a:rPr lang="en-GB" sz="1200" dirty="0"/>
              <a:t> in the O2C process.</a:t>
            </a:r>
            <a:br>
              <a:rPr lang="en-GB" sz="1200" dirty="0"/>
            </a:br>
            <a:r>
              <a:rPr lang="en-GB" sz="1200" dirty="0"/>
              <a:t>Delays and deviations are </a:t>
            </a:r>
            <a:r>
              <a:rPr lang="en-GB" sz="1200" b="1" dirty="0"/>
              <a:t>not driven by a single root cause</a:t>
            </a:r>
            <a:r>
              <a:rPr lang="en-GB" sz="1200" dirty="0"/>
              <a:t>, but by </a:t>
            </a:r>
            <a:r>
              <a:rPr lang="en-GB" sz="1200" b="1" dirty="0"/>
              <a:t>two distinct execution patterns</a:t>
            </a:r>
            <a:r>
              <a:rPr lang="en-GB" sz="1200" dirty="0"/>
              <a:t> with very different operational and value impact.</a:t>
            </a:r>
          </a:p>
          <a:p>
            <a:endParaRPr lang="en-US" sz="1200" noProof="0" dirty="0"/>
          </a:p>
          <a:p>
            <a:r>
              <a:rPr lang="en-US" sz="1400" b="1" noProof="0" dirty="0"/>
              <a:t>Key observations:</a:t>
            </a:r>
          </a:p>
          <a:p>
            <a:endParaRPr lang="en-US" sz="1400" b="1" noProof="0" dirty="0">
              <a:solidFill>
                <a:srgbClr val="FF0000"/>
              </a:solidFill>
              <a:ea typeface="+mn-lt"/>
              <a:cs typeface="+mn-lt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/>
              <a:t>Quantity tolerance violations</a:t>
            </a:r>
            <a:r>
              <a:rPr lang="en-US" altLang="en-US" sz="1200" dirty="0"/>
              <a:t> are </a:t>
            </a:r>
            <a:r>
              <a:rPr lang="en-US" altLang="en-US" sz="1200" b="1" dirty="0"/>
              <a:t>rare but high-impact</a:t>
            </a:r>
            <a:r>
              <a:rPr lang="en-US" altLang="en-US" sz="1200" dirty="0"/>
              <a:t> and highly concentrated.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/>
              <a:t>A </a:t>
            </a:r>
            <a:r>
              <a:rPr lang="en-US" altLang="en-US" sz="1200" b="1" dirty="0"/>
              <a:t>large share of late deliveries</a:t>
            </a:r>
            <a:r>
              <a:rPr lang="en-US" altLang="en-US" sz="1200" dirty="0"/>
              <a:t> occurs </a:t>
            </a:r>
            <a:r>
              <a:rPr lang="en-US" altLang="en-US" sz="1200" b="1" dirty="0"/>
              <a:t>without quantity violations</a:t>
            </a:r>
            <a:r>
              <a:rPr lang="en-US" altLang="en-US" sz="1200" dirty="0"/>
              <a:t>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/>
              <a:t>Value exposure</a:t>
            </a:r>
            <a:r>
              <a:rPr lang="en-US" altLang="en-US" sz="1200" dirty="0"/>
              <a:t> is mainly driven by </a:t>
            </a:r>
            <a:r>
              <a:rPr lang="en-US" altLang="en-US" sz="1200" b="1" dirty="0"/>
              <a:t>systemic lateness</a:t>
            </a:r>
            <a:r>
              <a:rPr lang="en-US" altLang="en-US" sz="1200" dirty="0"/>
              <a:t>, not by extreme quantity errors.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noProof="0" dirty="0"/>
          </a:p>
          <a:p>
            <a:pPr>
              <a:buNone/>
            </a:pPr>
            <a:endParaRPr lang="en-US" sz="1200" b="1" noProof="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88A59A4-01B5-4ACC-7E48-A713A91CFC3B}"/>
              </a:ext>
            </a:extLst>
          </p:cNvPr>
          <p:cNvSpPr txBox="1"/>
          <p:nvPr/>
        </p:nvSpPr>
        <p:spPr>
          <a:xfrm>
            <a:off x="350476" y="5259281"/>
            <a:ext cx="5037415" cy="9848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 dirty="0">
                <a:highlight>
                  <a:srgbClr val="5FB3A2"/>
                </a:highlight>
              </a:rPr>
              <a:t>Why This Matters</a:t>
            </a:r>
          </a:p>
          <a:p>
            <a:r>
              <a:rPr lang="en-US" sz="1400" noProof="0" dirty="0">
                <a:ea typeface="+mn-lt"/>
                <a:cs typeface="+mn-lt"/>
              </a:rPr>
              <a:t>These patterns imply that improving O2C performance requires differentiated, problem-specific management actions rather than broad process changes.</a:t>
            </a:r>
            <a:endParaRPr lang="en-US" noProof="0" dirty="0"/>
          </a:p>
        </p:txBody>
      </p:sp>
      <p:pic>
        <p:nvPicPr>
          <p:cNvPr id="10" name="Grafik 9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82691C8D-1143-AECE-5A59-0524E6078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1A6561F-4DE6-9BD0-B51D-F4D8514E1761}"/>
              </a:ext>
            </a:extLst>
          </p:cNvPr>
          <p:cNvSpPr txBox="1"/>
          <p:nvPr/>
        </p:nvSpPr>
        <p:spPr>
          <a:xfrm>
            <a:off x="5387891" y="4777183"/>
            <a:ext cx="6101482" cy="7848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noProof="0" dirty="0">
                <a:solidFill>
                  <a:srgbClr val="1F4E4A"/>
                </a:solidFill>
              </a:rPr>
              <a:t>How to read:</a:t>
            </a:r>
            <a:r>
              <a:rPr lang="en-US" sz="1200" noProof="0" dirty="0">
                <a:solidFill>
                  <a:srgbClr val="1F4E4A"/>
                </a:solidFill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1F4E4A"/>
                </a:solidFill>
              </a:rPr>
              <a:t>Quantity deviations (x-axis) vs. delivery lateness (y-axis).</a:t>
            </a:r>
            <a:br>
              <a:rPr lang="en-GB" sz="1100" dirty="0">
                <a:solidFill>
                  <a:srgbClr val="8FA3A1"/>
                </a:solidFill>
              </a:rPr>
            </a:br>
            <a:r>
              <a:rPr lang="en-GB" sz="1100" dirty="0">
                <a:solidFill>
                  <a:srgbClr val="8FA3A1"/>
                </a:solidFill>
              </a:rPr>
              <a:t>The chart separates </a:t>
            </a:r>
            <a:r>
              <a:rPr lang="en-GB" sz="1100" b="1" dirty="0">
                <a:solidFill>
                  <a:srgbClr val="8FA3A1"/>
                </a:solidFill>
              </a:rPr>
              <a:t>systemic lateness issues</a:t>
            </a:r>
            <a:r>
              <a:rPr lang="en-GB" sz="1100" dirty="0">
                <a:solidFill>
                  <a:srgbClr val="8FA3A1"/>
                </a:solidFill>
              </a:rPr>
              <a:t> from </a:t>
            </a:r>
            <a:r>
              <a:rPr lang="en-GB" sz="1100" b="1" dirty="0">
                <a:solidFill>
                  <a:srgbClr val="8FA3A1"/>
                </a:solidFill>
              </a:rPr>
              <a:t>concentrated, high-severity quantity deviations</a:t>
            </a:r>
            <a:r>
              <a:rPr lang="en-GB" sz="1100" dirty="0">
                <a:solidFill>
                  <a:srgbClr val="8FA3A1"/>
                </a:solidFill>
              </a:rPr>
              <a:t>.</a:t>
            </a:r>
            <a:endParaRPr lang="en-US" sz="1000" noProof="0" dirty="0">
              <a:solidFill>
                <a:srgbClr val="8FA3A1"/>
              </a:solidFill>
            </a:endParaRPr>
          </a:p>
        </p:txBody>
      </p:sp>
      <p:pic>
        <p:nvPicPr>
          <p:cNvPr id="9" name="Grafik 8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DE5F2FEA-E37A-4294-3E4E-CAC175A6E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157" y="1416133"/>
            <a:ext cx="5868669" cy="3274410"/>
          </a:xfrm>
          <a:prstGeom prst="rect">
            <a:avLst/>
          </a:prstGeom>
        </p:spPr>
      </p:pic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5CB1139E-9A8D-3776-4A9A-BD3E84CB23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3 </a:t>
            </a:r>
          </a:p>
        </p:txBody>
      </p:sp>
    </p:spTree>
    <p:extLst>
      <p:ext uri="{BB962C8B-B14F-4D97-AF65-F5344CB8AC3E}">
        <p14:creationId xmlns:p14="http://schemas.microsoft.com/office/powerpoint/2010/main" val="137123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E2219-E0B8-8D56-2950-DE2DAA7F3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B831725C-E20C-74F3-BB3F-E17F39AA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712" y="1825615"/>
            <a:ext cx="1577450" cy="432631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C628AF3-DD6D-2538-03F1-FC5BD0F4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/>
              <a:t>Execution Deviations After Order Release Drive ~4 Days of Delay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875514E-6B99-9135-92E2-CEF4DAF143B1}"/>
              </a:ext>
            </a:extLst>
          </p:cNvPr>
          <p:cNvSpPr txBox="1"/>
          <p:nvPr/>
        </p:nvSpPr>
        <p:spPr>
          <a:xfrm>
            <a:off x="351311" y="1713539"/>
            <a:ext cx="4698226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noProof="0">
                <a:highlight>
                  <a:srgbClr val="D8B35A"/>
                </a:highlight>
              </a:rPr>
              <a:t>Happy Path – Analytical Reference</a:t>
            </a:r>
          </a:p>
          <a:p>
            <a:endParaRPr lang="en-US" noProof="0">
              <a:solidFill>
                <a:srgbClr val="202124"/>
              </a:solidFill>
              <a:ea typeface="+mn-lt"/>
              <a:cs typeface="+mn-lt"/>
            </a:endParaRPr>
          </a:p>
          <a:p>
            <a:r>
              <a:rPr lang="en-US" sz="1200" noProof="0"/>
              <a:t>The Happy Path represents the </a:t>
            </a:r>
            <a:r>
              <a:rPr lang="en-US" sz="1200" b="1" noProof="0"/>
              <a:t>intended best-case execution flow</a:t>
            </a:r>
            <a:r>
              <a:rPr lang="en-US" sz="1200" noProof="0"/>
              <a:t> of the Order-to-Cash (O2C) process </a:t>
            </a:r>
            <a:r>
              <a:rPr lang="en-US" sz="1200" b="1" noProof="0"/>
              <a:t>without rework or change loops</a:t>
            </a:r>
            <a:r>
              <a:rPr lang="en-US" sz="1200" noProof="0"/>
              <a:t>.</a:t>
            </a:r>
          </a:p>
          <a:p>
            <a:endParaRPr lang="en-US" sz="1200" noProof="0"/>
          </a:p>
          <a:p>
            <a:r>
              <a:rPr lang="en-US" sz="1200" noProof="0"/>
              <a:t>It is used </a:t>
            </a:r>
            <a:r>
              <a:rPr lang="en-US" sz="1200" b="1" noProof="0"/>
              <a:t>exclusively as an analytical baseline</a:t>
            </a:r>
            <a:r>
              <a:rPr lang="en-US" sz="1200" noProof="0"/>
              <a:t> to </a:t>
            </a:r>
            <a:r>
              <a:rPr lang="en-US" sz="1200" b="1" noProof="0"/>
              <a:t>identify, compare, and quantify execution deviations</a:t>
            </a:r>
            <a:r>
              <a:rPr lang="en-US" sz="1200" noProof="0"/>
              <a:t> and to </a:t>
            </a:r>
            <a:r>
              <a:rPr lang="en-US" sz="1200" b="1" noProof="0"/>
              <a:t>derive targeted improvement actions</a:t>
            </a:r>
            <a:r>
              <a:rPr lang="en-US" sz="1200" noProof="0"/>
              <a:t>.</a:t>
            </a:r>
          </a:p>
          <a:p>
            <a:endParaRPr lang="en-US" sz="1200" noProof="0">
              <a:solidFill>
                <a:srgbClr val="202124"/>
              </a:solidFill>
              <a:ea typeface="+mn-lt"/>
              <a:cs typeface="+mn-lt"/>
            </a:endParaRPr>
          </a:p>
          <a:p>
            <a:endParaRPr lang="en-US" sz="1200" noProof="0">
              <a:solidFill>
                <a:srgbClr val="202124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47DD01C-717F-A7AB-C2E6-3696AE656AAC}"/>
              </a:ext>
            </a:extLst>
          </p:cNvPr>
          <p:cNvSpPr txBox="1"/>
          <p:nvPr/>
        </p:nvSpPr>
        <p:spPr>
          <a:xfrm>
            <a:off x="351311" y="4590463"/>
            <a:ext cx="46982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noProof="0">
                <a:highlight>
                  <a:srgbClr val="5FB3A2"/>
                </a:highlight>
              </a:rPr>
              <a:t>Why This Matters</a:t>
            </a:r>
          </a:p>
          <a:p>
            <a:pPr>
              <a:buNone/>
            </a:pPr>
            <a:r>
              <a:rPr lang="en-US" sz="1400" noProof="0"/>
              <a:t>Orders following the exact Happy Path are ~4 days faster, showing that delays are </a:t>
            </a:r>
            <a:r>
              <a:rPr lang="en-US" sz="1400" b="1" noProof="0"/>
              <a:t>primarily associated with post-release deviations from the Happy Path.</a:t>
            </a:r>
            <a:endParaRPr lang="en-US" sz="1400" noProof="0">
              <a:solidFill>
                <a:srgbClr val="202124"/>
              </a:solidFill>
            </a:endParaRPr>
          </a:p>
        </p:txBody>
      </p:sp>
      <p:pic>
        <p:nvPicPr>
          <p:cNvPr id="3" name="Grafik 2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2F5A81D8-CC2A-CF13-7CAF-10683C8B0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54399A39-A32F-B606-91E1-EE3106A1BEBA}"/>
              </a:ext>
            </a:extLst>
          </p:cNvPr>
          <p:cNvSpPr/>
          <p:nvPr/>
        </p:nvSpPr>
        <p:spPr>
          <a:xfrm>
            <a:off x="5186681" y="1825615"/>
            <a:ext cx="45719" cy="4326319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10FE073-159A-522D-BED9-49476259D430}"/>
              </a:ext>
            </a:extLst>
          </p:cNvPr>
          <p:cNvSpPr txBox="1"/>
          <p:nvPr/>
        </p:nvSpPr>
        <p:spPr>
          <a:xfrm>
            <a:off x="7236430" y="1713539"/>
            <a:ext cx="42602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>
                <a:solidFill>
                  <a:srgbClr val="202124"/>
                </a:solidFill>
                <a:ea typeface="+mn-lt"/>
                <a:cs typeface="+mn-lt"/>
              </a:rPr>
              <a:t>Happy Path </a:t>
            </a:r>
          </a:p>
          <a:p>
            <a:r>
              <a:rPr lang="en-US" sz="1200" i="1" noProof="0">
                <a:solidFill>
                  <a:srgbClr val="202124"/>
                </a:solidFill>
                <a:ea typeface="+mn-lt"/>
                <a:cs typeface="+mn-lt"/>
              </a:rPr>
              <a:t>(based on internal business sorting logic):</a:t>
            </a:r>
          </a:p>
          <a:p>
            <a:endParaRPr lang="en-US" sz="1400" noProof="0">
              <a:solidFill>
                <a:srgbClr val="202124"/>
              </a:solidFill>
            </a:endParaRPr>
          </a:p>
          <a:p>
            <a:pPr marL="228600" indent="-228600">
              <a:buAutoNum type="arabicPeriod"/>
            </a:pPr>
            <a:r>
              <a:rPr lang="en-US" sz="1200" noProof="0">
                <a:solidFill>
                  <a:srgbClr val="202124"/>
                </a:solidFill>
                <a:ea typeface="+mn-lt"/>
                <a:cs typeface="+mn-lt"/>
              </a:rPr>
              <a:t>  Order received</a:t>
            </a:r>
            <a:endParaRPr lang="en-US" sz="1200" noProof="0">
              <a:solidFill>
                <a:srgbClr val="202124"/>
              </a:solidFill>
            </a:endParaRPr>
          </a:p>
          <a:p>
            <a:pPr marL="285750" indent="-285750">
              <a:buAutoNum type="arabicPeriod"/>
            </a:pPr>
            <a:r>
              <a:rPr lang="en-US" sz="1200" noProof="0">
                <a:solidFill>
                  <a:srgbClr val="202124"/>
                </a:solidFill>
                <a:ea typeface="+mn-lt"/>
                <a:cs typeface="+mn-lt"/>
              </a:rPr>
              <a:t>Check credit score</a:t>
            </a:r>
            <a:endParaRPr lang="en-US" sz="1200" noProof="0">
              <a:solidFill>
                <a:srgbClr val="202124"/>
              </a:solidFill>
            </a:endParaRPr>
          </a:p>
          <a:p>
            <a:pPr marL="285750" indent="-285750">
              <a:buAutoNum type="arabicPeriod"/>
            </a:pPr>
            <a:r>
              <a:rPr lang="en-US" sz="1200" noProof="0">
                <a:solidFill>
                  <a:srgbClr val="202124"/>
                </a:solidFill>
                <a:ea typeface="+mn-lt"/>
                <a:cs typeface="+mn-lt"/>
              </a:rPr>
              <a:t>Confirm sale</a:t>
            </a:r>
            <a:endParaRPr lang="en-US" sz="1200" noProof="0">
              <a:solidFill>
                <a:srgbClr val="202124"/>
              </a:solidFill>
            </a:endParaRPr>
          </a:p>
          <a:p>
            <a:pPr marL="285750" indent="-285750">
              <a:buAutoNum type="arabicPeriod"/>
            </a:pPr>
            <a:r>
              <a:rPr lang="en-US" sz="1200" noProof="0">
                <a:solidFill>
                  <a:srgbClr val="202124"/>
                </a:solidFill>
                <a:ea typeface="+mn-lt"/>
                <a:cs typeface="+mn-lt"/>
              </a:rPr>
              <a:t>Start production</a:t>
            </a:r>
            <a:endParaRPr lang="en-US" sz="1200" i="1" noProof="0">
              <a:solidFill>
                <a:srgbClr val="202124"/>
              </a:solidFill>
            </a:endParaRPr>
          </a:p>
          <a:p>
            <a:pPr marL="285750" indent="-285750">
              <a:buAutoNum type="arabicPeriod"/>
            </a:pPr>
            <a:r>
              <a:rPr lang="en-US" sz="1200" noProof="0">
                <a:solidFill>
                  <a:srgbClr val="202124"/>
                </a:solidFill>
                <a:ea typeface="+mn-lt"/>
                <a:cs typeface="+mn-lt"/>
              </a:rPr>
              <a:t>Finished production</a:t>
            </a:r>
            <a:endParaRPr lang="en-US" sz="1200" noProof="0">
              <a:solidFill>
                <a:srgbClr val="202124"/>
              </a:solidFill>
            </a:endParaRPr>
          </a:p>
          <a:p>
            <a:pPr marL="285750" indent="-285750">
              <a:buAutoNum type="arabicPeriod"/>
            </a:pPr>
            <a:r>
              <a:rPr lang="en-US" sz="1200" noProof="0">
                <a:solidFill>
                  <a:srgbClr val="202124"/>
                </a:solidFill>
                <a:ea typeface="+mn-lt"/>
                <a:cs typeface="+mn-lt"/>
              </a:rPr>
              <a:t>Load shipment</a:t>
            </a:r>
            <a:endParaRPr lang="en-US" sz="1200" noProof="0">
              <a:solidFill>
                <a:srgbClr val="202124"/>
              </a:solidFill>
            </a:endParaRPr>
          </a:p>
          <a:p>
            <a:pPr marL="285750" indent="-285750">
              <a:buAutoNum type="arabicPeriod"/>
            </a:pPr>
            <a:r>
              <a:rPr lang="en-US" sz="1200" noProof="0">
                <a:solidFill>
                  <a:srgbClr val="202124"/>
                </a:solidFill>
                <a:ea typeface="+mn-lt"/>
                <a:cs typeface="+mn-lt"/>
              </a:rPr>
              <a:t>Goods delivered</a:t>
            </a:r>
            <a:endParaRPr lang="en-US" sz="1200" noProof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8F1D572-D3F8-8660-C43D-D8A1162D9EAB}"/>
              </a:ext>
            </a:extLst>
          </p:cNvPr>
          <p:cNvSpPr txBox="1"/>
          <p:nvPr/>
        </p:nvSpPr>
        <p:spPr>
          <a:xfrm>
            <a:off x="7242780" y="3751214"/>
            <a:ext cx="4260244" cy="3049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875"/>
              </a:lnSpc>
            </a:pPr>
            <a:r>
              <a:rPr lang="en-US" sz="1400" b="1" baseline="0" noProof="0">
                <a:solidFill>
                  <a:srgbClr val="202124"/>
                </a:solidFill>
                <a:latin typeface="IBM Plex Sans"/>
                <a:ea typeface="Segoe UI"/>
                <a:cs typeface="Segoe UI"/>
              </a:rPr>
              <a:t>Quantitative reference:</a:t>
            </a:r>
            <a:r>
              <a:rPr lang="en-US" sz="1400" noProof="0">
                <a:solidFill>
                  <a:srgbClr val="202124"/>
                </a:solidFill>
                <a:latin typeface="IBM Plex Sans"/>
                <a:ea typeface="Segoe UI"/>
                <a:cs typeface="Segoe UI"/>
              </a:rPr>
              <a:t>​</a:t>
            </a:r>
          </a:p>
          <a:p>
            <a:pPr marL="285750" lvl="0" indent="-285750" rtl="0">
              <a:lnSpc>
                <a:spcPts val="1875"/>
              </a:lnSpc>
              <a:buFont typeface="Arial" panose="020B0604020202020204" pitchFamily="34" charset="0"/>
              <a:buChar char="•"/>
            </a:pPr>
            <a:r>
              <a:rPr lang="en-US" sz="1200" baseline="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All orders contain these core activities</a:t>
            </a:r>
            <a:r>
              <a:rPr lang="en-US" sz="120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​</a:t>
            </a:r>
          </a:p>
          <a:p>
            <a:pPr marL="285750" lvl="0" indent="-285750">
              <a:lnSpc>
                <a:spcPts val="1875"/>
              </a:lnSpc>
              <a:buFont typeface="Arial" panose="020B0604020202020204" pitchFamily="34" charset="0"/>
              <a:buChar char="•"/>
            </a:pPr>
            <a:r>
              <a:rPr lang="en-US" sz="1200" noProof="0"/>
              <a:t>Typical Order process variations (top 30) with post-release deviations:</a:t>
            </a:r>
            <a:br>
              <a:rPr lang="en-US" sz="1200" noProof="0">
                <a:latin typeface="IBM Plex Sans"/>
                <a:ea typeface="Arial"/>
                <a:cs typeface="Arial"/>
              </a:rPr>
            </a:br>
            <a:r>
              <a:rPr lang="en-US" sz="1200" b="1" i="1" baseline="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→ Median throughput time: </a:t>
            </a:r>
            <a:r>
              <a:rPr lang="en-US" sz="1200" b="1" i="1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45.6</a:t>
            </a:r>
            <a:r>
              <a:rPr lang="en-US" sz="1200" b="1" i="1" baseline="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 days</a:t>
            </a:r>
            <a:r>
              <a:rPr lang="en-US" sz="1200" b="1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​</a:t>
            </a:r>
          </a:p>
          <a:p>
            <a:pPr marL="285750" lvl="0" indent="-285750" rtl="0">
              <a:lnSpc>
                <a:spcPts val="1875"/>
              </a:lnSpc>
              <a:buFont typeface="Arial" panose="020B0604020202020204" pitchFamily="34" charset="0"/>
              <a:buChar char="•"/>
            </a:pPr>
            <a:r>
              <a:rPr lang="en-US" sz="1200" baseline="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Orders that follow the exact Happy Path</a:t>
            </a:r>
            <a:r>
              <a:rPr lang="en-US" sz="120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​:</a:t>
            </a:r>
            <a:br>
              <a:rPr lang="en-US" sz="1200" noProof="0">
                <a:latin typeface="IBM Plex Sans"/>
                <a:ea typeface="Arial"/>
                <a:cs typeface="Arial"/>
              </a:rPr>
            </a:br>
            <a:r>
              <a:rPr lang="en-US" sz="1200" b="1" baseline="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→ Median throughput time: </a:t>
            </a:r>
            <a:r>
              <a:rPr lang="en-US" sz="1200" b="1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41.5</a:t>
            </a:r>
            <a:r>
              <a:rPr lang="en-US" sz="1200" b="1" baseline="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 days</a:t>
            </a:r>
            <a:r>
              <a:rPr lang="en-US" sz="1200" b="1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​</a:t>
            </a:r>
          </a:p>
          <a:p>
            <a:pPr marL="285750" lvl="0" indent="-285750" rtl="0">
              <a:lnSpc>
                <a:spcPts val="1875"/>
              </a:lnSpc>
              <a:buFont typeface="Arial" panose="020B0604020202020204" pitchFamily="34" charset="0"/>
              <a:buChar char="•"/>
            </a:pPr>
            <a:endParaRPr lang="en-US" sz="1200" b="1" noProof="0">
              <a:solidFill>
                <a:srgbClr val="8FA3A1"/>
              </a:solidFill>
              <a:latin typeface="IBM Plex Sans"/>
              <a:ea typeface="Arial"/>
              <a:cs typeface="Arial"/>
            </a:endParaRPr>
          </a:p>
          <a:p>
            <a:pPr>
              <a:lnSpc>
                <a:spcPts val="1875"/>
              </a:lnSpc>
            </a:pPr>
            <a:r>
              <a:rPr lang="en-US" sz="1000" noProof="0">
                <a:solidFill>
                  <a:srgbClr val="8FA3A1"/>
                </a:solidFill>
              </a:rPr>
              <a:t>The Happy Path is intentionally rare and serves as a performance benchmark, not as a realistic target state.</a:t>
            </a:r>
          </a:p>
          <a:p>
            <a:pPr>
              <a:lnSpc>
                <a:spcPts val="1875"/>
              </a:lnSpc>
            </a:pPr>
            <a:r>
              <a:rPr lang="en-US" sz="1000" i="1" noProof="0">
                <a:solidFill>
                  <a:srgbClr val="8FA3A1"/>
                </a:solidFill>
              </a:rPr>
              <a:t>Share of orders following exact Happy Path: &lt;1%</a:t>
            </a:r>
            <a:endParaRPr lang="en-US" sz="1000" i="1" noProof="0">
              <a:solidFill>
                <a:srgbClr val="8FA3A1"/>
              </a:solidFill>
              <a:latin typeface="IBM Plex Sans"/>
              <a:ea typeface="Segoe UI"/>
              <a:cs typeface="Segoe UI"/>
            </a:endParaRPr>
          </a:p>
          <a:p>
            <a:pPr algn="ctr"/>
            <a:endParaRPr lang="en-US" noProof="0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E6C1AC0D-FD25-2EB0-B65C-216366C5AB8C}"/>
              </a:ext>
            </a:extLst>
          </p:cNvPr>
          <p:cNvCxnSpPr>
            <a:cxnSpLocks/>
          </p:cNvCxnSpPr>
          <p:nvPr/>
        </p:nvCxnSpPr>
        <p:spPr>
          <a:xfrm>
            <a:off x="5708205" y="2546350"/>
            <a:ext cx="7296" cy="28829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10C0E15E-CAAB-C4A6-925E-250739D6B913}"/>
              </a:ext>
            </a:extLst>
          </p:cNvPr>
          <p:cNvSpPr txBox="1"/>
          <p:nvPr/>
        </p:nvSpPr>
        <p:spPr>
          <a:xfrm rot="16200000">
            <a:off x="4392941" y="3680247"/>
            <a:ext cx="24142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solidFill>
                  <a:srgbClr val="202124"/>
                </a:solidFill>
              </a:rPr>
              <a:t>Post-release deviation affected area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49E04E-F290-AC64-F7B7-ED8B6857C3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4</a:t>
            </a:r>
          </a:p>
        </p:txBody>
      </p:sp>
    </p:spTree>
    <p:extLst>
      <p:ext uri="{BB962C8B-B14F-4D97-AF65-F5344CB8AC3E}">
        <p14:creationId xmlns:p14="http://schemas.microsoft.com/office/powerpoint/2010/main" val="3277867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08EE2-BCED-097A-4DAB-8AE243F04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8420D7-67A2-31CF-52A7-71984F44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/>
              <a:t>A Small Number of Post-Release Rework Patterns Drives Most O2C Delays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C206AB0-A838-FED3-61AD-F33226FA06E7}"/>
              </a:ext>
            </a:extLst>
          </p:cNvPr>
          <p:cNvSpPr txBox="1"/>
          <p:nvPr/>
        </p:nvSpPr>
        <p:spPr>
          <a:xfrm>
            <a:off x="351311" y="1534965"/>
            <a:ext cx="4698226" cy="51244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 noProof="0" dirty="0">
                <a:highlight>
                  <a:srgbClr val="D8B35A"/>
                </a:highlight>
              </a:rPr>
              <a:t>Execution Gaps Identified</a:t>
            </a:r>
          </a:p>
          <a:p>
            <a:endParaRPr lang="en-US" sz="1100" b="1" noProof="0" dirty="0"/>
          </a:p>
          <a:p>
            <a:r>
              <a:rPr lang="en-US" sz="1400" b="1" noProof="0" dirty="0"/>
              <a:t>Late Quantity Changes After Load Shipment </a:t>
            </a:r>
          </a:p>
          <a:p>
            <a:r>
              <a:rPr lang="en-US" sz="1000" noProof="0" dirty="0"/>
              <a:t>Occur </a:t>
            </a:r>
            <a:r>
              <a:rPr lang="en-US" sz="1000" b="1" noProof="0" dirty="0"/>
              <a:t>after physical execution has started</a:t>
            </a:r>
            <a:endParaRPr lang="en-US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Affect a </a:t>
            </a:r>
            <a:r>
              <a:rPr lang="en-US" sz="1000" b="1" noProof="0" dirty="0"/>
              <a:t>small but highly impacted subset of orders</a:t>
            </a:r>
            <a:endParaRPr lang="en-US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Trigger </a:t>
            </a:r>
            <a:r>
              <a:rPr lang="en-US" sz="1000" b="1" noProof="0" dirty="0"/>
              <a:t>rework after shipment</a:t>
            </a:r>
            <a:r>
              <a:rPr lang="en-US" sz="1000" noProof="0" dirty="0"/>
              <a:t>, causing disproportionate delays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noProof="0" dirty="0"/>
          </a:p>
          <a:p>
            <a:r>
              <a:rPr lang="en-US" sz="1000" b="1" noProof="0" dirty="0"/>
              <a:t>Interpretation:</a:t>
            </a:r>
            <a:br>
              <a:rPr lang="en-US" sz="1000" noProof="0" dirty="0"/>
            </a:br>
            <a:r>
              <a:rPr lang="en-US" sz="1000" noProof="0" dirty="0"/>
              <a:t>Late order changes introduce operational rework beyond the controllable execution window.</a:t>
            </a:r>
          </a:p>
          <a:p>
            <a:endParaRPr lang="en-US" sz="1000" noProof="0" dirty="0"/>
          </a:p>
          <a:p>
            <a:r>
              <a:rPr lang="en-US" sz="1400" b="1" noProof="0" dirty="0"/>
              <a:t>Repeated Production Start Date Changes after Production Start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Occur in the </a:t>
            </a:r>
            <a:r>
              <a:rPr lang="en-US" sz="1000" b="1" noProof="0" dirty="0"/>
              <a:t>vast majority of orders</a:t>
            </a:r>
            <a:endParaRPr lang="en-US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Low impact per case, but </a:t>
            </a:r>
            <a:r>
              <a:rPr lang="en-US" sz="1000" b="1" noProof="0" dirty="0"/>
              <a:t>systematic and recurring</a:t>
            </a:r>
            <a:endParaRPr lang="en-US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Primary driver of </a:t>
            </a:r>
            <a:r>
              <a:rPr lang="en-US" sz="1000" b="1" noProof="0" dirty="0"/>
              <a:t>planning instability</a:t>
            </a:r>
            <a:r>
              <a:rPr lang="en-US" sz="1000" noProof="0" dirty="0"/>
              <a:t>, not physical failure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noProof="0" dirty="0"/>
          </a:p>
          <a:p>
            <a:r>
              <a:rPr lang="en-US" sz="1000" b="1" noProof="0" dirty="0"/>
              <a:t>Interpretation:</a:t>
            </a:r>
            <a:br>
              <a:rPr lang="en-US" sz="1000" noProof="0" dirty="0"/>
            </a:br>
            <a:r>
              <a:rPr lang="en-US" sz="1000" noProof="0" dirty="0"/>
              <a:t>Frequent replanning erodes schedule reliability across the network.</a:t>
            </a:r>
          </a:p>
          <a:p>
            <a:endParaRPr lang="en-US" sz="1400" noProof="0" dirty="0"/>
          </a:p>
          <a:p>
            <a:r>
              <a:rPr lang="en-US" sz="1400" b="1" noProof="0" dirty="0"/>
              <a:t>Credit Blocks With Downstream Rework </a:t>
            </a:r>
          </a:p>
          <a:p>
            <a:r>
              <a:rPr lang="en-US" sz="1000" noProof="0" dirty="0"/>
              <a:t>Affect a </a:t>
            </a:r>
            <a:r>
              <a:rPr lang="en-US" sz="1000" b="1" noProof="0" dirty="0"/>
              <a:t>relevant majority of cases (~10%)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Create significant cycle time increases once triggered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noProof="0" dirty="0"/>
          </a:p>
          <a:p>
            <a:r>
              <a:rPr lang="en-US" sz="1000" b="1" noProof="0" dirty="0"/>
              <a:t>Interpretation:</a:t>
            </a:r>
            <a:br>
              <a:rPr lang="en-US" sz="1000" noProof="0" dirty="0"/>
            </a:br>
            <a:r>
              <a:rPr lang="en-US" sz="1000" noProof="0" dirty="0"/>
              <a:t>Payment-related controls introduce downstream process friction beyond order release.</a:t>
            </a:r>
          </a:p>
          <a:p>
            <a:endParaRPr lang="en-US" sz="1000" noProof="0" dirty="0"/>
          </a:p>
          <a:p>
            <a:endParaRPr lang="en-US" sz="1000" noProof="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B6CB733-A7ED-F7BA-DC0E-3D1942B42218}"/>
              </a:ext>
            </a:extLst>
          </p:cNvPr>
          <p:cNvSpPr txBox="1"/>
          <p:nvPr/>
        </p:nvSpPr>
        <p:spPr>
          <a:xfrm>
            <a:off x="5687455" y="4781556"/>
            <a:ext cx="4698226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 dirty="0">
                <a:highlight>
                  <a:srgbClr val="5FB3A2"/>
                </a:highlight>
              </a:rPr>
              <a:t>Why This Matters</a:t>
            </a:r>
          </a:p>
          <a:p>
            <a:r>
              <a:rPr lang="en-US" sz="1400" noProof="0" dirty="0"/>
              <a:t>A small number of recurring execution gaps explains a large share of cycle time variance and planning effort, making them </a:t>
            </a:r>
            <a:r>
              <a:rPr lang="en-US" sz="1400" b="1" noProof="0" dirty="0"/>
              <a:t>high-leverage targets for management action and improvement potential</a:t>
            </a:r>
            <a:r>
              <a:rPr lang="en-US" sz="1400" noProof="0" dirty="0"/>
              <a:t>.</a:t>
            </a:r>
          </a:p>
        </p:txBody>
      </p:sp>
      <p:pic>
        <p:nvPicPr>
          <p:cNvPr id="3" name="Grafik 2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6E77DC6D-FFAF-1D29-6CA4-EB3AA566D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19E6C17-5A61-AC47-9A29-D46EC1639557}"/>
              </a:ext>
            </a:extLst>
          </p:cNvPr>
          <p:cNvSpPr txBox="1"/>
          <p:nvPr/>
        </p:nvSpPr>
        <p:spPr>
          <a:xfrm>
            <a:off x="5678169" y="3135403"/>
            <a:ext cx="571055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02124"/>
                </a:solidFill>
              </a:rPr>
              <a:t>Timestamp inconsistencies</a:t>
            </a:r>
            <a:r>
              <a:rPr lang="en-US" sz="1600" b="1" dirty="0">
                <a:solidFill>
                  <a:srgbClr val="202124"/>
                </a:solidFill>
              </a:rPr>
              <a:t> </a:t>
            </a:r>
          </a:p>
          <a:p>
            <a:r>
              <a:rPr lang="en-US" sz="1000" noProof="0" dirty="0"/>
              <a:t>Timestamps do not reliably reflect business execution order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000" noProof="0" dirty="0"/>
              <a:t> Root cause: </a:t>
            </a:r>
            <a:r>
              <a:rPr lang="en-US" sz="1000" b="1" noProof="0" dirty="0"/>
              <a:t>technical logging effects </a:t>
            </a:r>
            <a:r>
              <a:rPr lang="en-US" sz="1000" noProof="0" dirty="0"/>
              <a:t>(e.g., </a:t>
            </a:r>
            <a:r>
              <a:rPr lang="en-GB" sz="1000" dirty="0"/>
              <a:t>retrospective</a:t>
            </a:r>
            <a:r>
              <a:rPr lang="en-US" sz="1000" noProof="0" dirty="0"/>
              <a:t> reporting)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noProof="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noProof="0" dirty="0"/>
              <a:t>Analytical handling: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000" noProof="0" dirty="0"/>
              <a:t> Process order defined by business logic (sorting column)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000" noProof="0" dirty="0"/>
              <a:t> plausible Timestamps used for </a:t>
            </a:r>
            <a:r>
              <a:rPr lang="en-US" sz="1000" b="1" noProof="0" dirty="0"/>
              <a:t>durations only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58F9260-59BF-D2E5-DF2D-0A891982D12E}"/>
              </a:ext>
            </a:extLst>
          </p:cNvPr>
          <p:cNvSpPr txBox="1"/>
          <p:nvPr/>
        </p:nvSpPr>
        <p:spPr>
          <a:xfrm>
            <a:off x="5678169" y="1534965"/>
            <a:ext cx="61023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/>
              <a:t>Sales price rework after Sale confirmation </a:t>
            </a:r>
          </a:p>
          <a:p>
            <a:r>
              <a:rPr lang="en-US" sz="1000" noProof="0" dirty="0"/>
              <a:t>Affect a </a:t>
            </a:r>
            <a:r>
              <a:rPr lang="en-US" sz="1000" b="1" noProof="0" dirty="0"/>
              <a:t>relevant minority of cases</a:t>
            </a:r>
            <a:endParaRPr lang="en-US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Affect a </a:t>
            </a:r>
            <a:r>
              <a:rPr lang="en-US" sz="1000" b="1" noProof="0" dirty="0"/>
              <a:t>relevant majority of cases (~13%)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Create significant cycle time increases once triggered</a:t>
            </a:r>
          </a:p>
          <a:p>
            <a:endParaRPr lang="en-US" sz="1000" noProof="0" dirty="0"/>
          </a:p>
          <a:p>
            <a:r>
              <a:rPr lang="en-US" sz="1000" b="1" noProof="0" dirty="0"/>
              <a:t>Interpretation:</a:t>
            </a:r>
            <a:br>
              <a:rPr lang="en-US" sz="1000" noProof="0" dirty="0"/>
            </a:br>
            <a:r>
              <a:rPr lang="en-US" sz="1000" noProof="0" dirty="0"/>
              <a:t>Sales prices are renegotiated and reprocessed after order receipt and sale confirmation, causing additional approval steps, rework loops, and execution delays in O2C.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FD9228-1F5B-54F5-11DE-38376F3876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5 </a:t>
            </a:r>
          </a:p>
        </p:txBody>
      </p:sp>
    </p:spTree>
    <p:extLst>
      <p:ext uri="{BB962C8B-B14F-4D97-AF65-F5344CB8AC3E}">
        <p14:creationId xmlns:p14="http://schemas.microsoft.com/office/powerpoint/2010/main" val="3775903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182DB-C572-C4C1-5A30-A0CD325C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Tabelle 59">
            <a:extLst>
              <a:ext uri="{FF2B5EF4-FFF2-40B4-BE49-F238E27FC236}">
                <a16:creationId xmlns:a16="http://schemas.microsoft.com/office/drawing/2014/main" id="{C6862C1B-6B39-FA39-AE6F-D023430F2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200587"/>
              </p:ext>
            </p:extLst>
          </p:nvPr>
        </p:nvGraphicFramePr>
        <p:xfrm>
          <a:off x="173315" y="1872977"/>
          <a:ext cx="4597305" cy="45598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3285">
                  <a:extLst>
                    <a:ext uri="{9D8B030D-6E8A-4147-A177-3AD203B41FA5}">
                      <a16:colId xmlns:a16="http://schemas.microsoft.com/office/drawing/2014/main" val="3837669620"/>
                    </a:ext>
                  </a:extLst>
                </a:gridCol>
                <a:gridCol w="971999">
                  <a:extLst>
                    <a:ext uri="{9D8B030D-6E8A-4147-A177-3AD203B41FA5}">
                      <a16:colId xmlns:a16="http://schemas.microsoft.com/office/drawing/2014/main" val="2970177897"/>
                    </a:ext>
                  </a:extLst>
                </a:gridCol>
                <a:gridCol w="628201">
                  <a:extLst>
                    <a:ext uri="{9D8B030D-6E8A-4147-A177-3AD203B41FA5}">
                      <a16:colId xmlns:a16="http://schemas.microsoft.com/office/drawing/2014/main" val="120435896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32874195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567755854"/>
                    </a:ext>
                  </a:extLst>
                </a:gridCol>
                <a:gridCol w="839970">
                  <a:extLst>
                    <a:ext uri="{9D8B030D-6E8A-4147-A177-3AD203B41FA5}">
                      <a16:colId xmlns:a16="http://schemas.microsoft.com/office/drawing/2014/main" val="762938049"/>
                    </a:ext>
                  </a:extLst>
                </a:gridCol>
              </a:tblGrid>
              <a:tr h="823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noProof="0">
                          <a:ln>
                            <a:noFill/>
                          </a:ln>
                          <a:latin typeface="+mj-lt"/>
                        </a:rPr>
                        <a:t>Rank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lt"/>
                        </a:rPr>
                        <a:t>(Importance)</a:t>
                      </a:r>
                      <a:endParaRPr lang="en-US" sz="300" b="1" noProof="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600" b="1" noProof="0">
                        <a:ln>
                          <a:noFill/>
                        </a:ln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noProof="0">
                          <a:ln>
                            <a:noFill/>
                          </a:ln>
                          <a:latin typeface="+mj-lt"/>
                        </a:rPr>
                        <a:t>Gap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noProof="0"/>
                        <a:t>Per Case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noProof="0"/>
                        <a:t>% of Orders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noProof="0"/>
                        <a:t>Δ Cycle TPT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noProof="0">
                          <a:solidFill>
                            <a:schemeClr val="bg1"/>
                          </a:solidFill>
                        </a:rPr>
                        <a:t>vs. Happy Path median of 41.5d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noProof="0">
                          <a:solidFill>
                            <a:srgbClr val="F3F6F6"/>
                          </a:solidFill>
                        </a:rPr>
                        <a:t>Business Risk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B3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99713"/>
                  </a:ext>
                </a:extLst>
              </a:tr>
              <a:tr h="82336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noProof="0">
                          <a:ln>
                            <a:noFill/>
                          </a:ln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>
                          <a:latin typeface="+mn-lt"/>
                        </a:rPr>
                        <a:t>Post-loading quantity correction</a:t>
                      </a:r>
                      <a:endParaRPr lang="en-US" sz="1100" b="1" noProof="0">
                        <a:ln>
                          <a:noFill/>
                        </a:ln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>
                          <a:latin typeface="+mn-lt"/>
                        </a:rPr>
                        <a:t>1-13</a:t>
                      </a:r>
                    </a:p>
                    <a:p>
                      <a:r>
                        <a:rPr lang="en-US" sz="1100" noProof="0">
                          <a:latin typeface="+mn-lt"/>
                        </a:rPr>
                        <a:t>1</a:t>
                      </a:r>
                    </a:p>
                    <a:p>
                      <a:r>
                        <a:rPr lang="en-US" sz="1100" noProof="0">
                          <a:latin typeface="+mn-lt"/>
                        </a:rPr>
                        <a:t>2</a:t>
                      </a:r>
                    </a:p>
                    <a:p>
                      <a:r>
                        <a:rPr lang="en-US" sz="1100" noProof="0"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>
                          <a:latin typeface="+mn-lt"/>
                        </a:rPr>
                        <a:t>27.9%</a:t>
                      </a:r>
                    </a:p>
                    <a:p>
                      <a:r>
                        <a:rPr lang="en-US" sz="1100" noProof="0">
                          <a:latin typeface="+mn-lt"/>
                        </a:rPr>
                        <a:t>12.5%</a:t>
                      </a:r>
                    </a:p>
                    <a:p>
                      <a:r>
                        <a:rPr lang="en-US" sz="1100" noProof="0">
                          <a:latin typeface="+mn-lt"/>
                        </a:rPr>
                        <a:t>11%</a:t>
                      </a:r>
                    </a:p>
                    <a:p>
                      <a:r>
                        <a:rPr lang="en-US" sz="1100" noProof="0">
                          <a:latin typeface="+mn-lt"/>
                        </a:rPr>
                        <a:t>3.6%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+11 d</a:t>
                      </a:r>
                    </a:p>
                    <a:p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+8.9 d</a:t>
                      </a:r>
                    </a:p>
                    <a:p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+10.9 d</a:t>
                      </a:r>
                    </a:p>
                    <a:p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+10.5 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VERY HIGH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662348"/>
                  </a:ext>
                </a:extLst>
              </a:tr>
              <a:tr h="70692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noProof="0">
                          <a:ln>
                            <a:noFill/>
                          </a:ln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00" b="1" noProof="0">
                          <a:latin typeface="+mn-lt"/>
                        </a:rPr>
                        <a:t>Credit order block</a:t>
                      </a:r>
                      <a:endParaRPr lang="en-US" sz="1100" b="1" noProof="0">
                        <a:ln>
                          <a:noFill/>
                        </a:ln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10%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+19.5 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 u="none" strike="noStrike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VERY</a:t>
                      </a:r>
                    </a:p>
                    <a:p>
                      <a:pPr algn="ctr"/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HIGH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790686"/>
                  </a:ext>
                </a:extLst>
              </a:tr>
              <a:tr h="110889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sz="1200" b="1" kern="1200" noProof="0">
                          <a:ln>
                            <a:noFill/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00" b="1" noProof="0">
                          <a:latin typeface="+mn-lt"/>
                        </a:rPr>
                        <a:t>Post-confirm sale price rework</a:t>
                      </a:r>
                      <a:endParaRPr lang="en-US" sz="1100" b="1" noProof="0">
                        <a:ln>
                          <a:noFill/>
                        </a:ln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1-9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1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2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13%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6.4%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5.5%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0.8%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+19.9d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+19.9d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+16.5d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+32.8d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HIGH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744721"/>
                  </a:ext>
                </a:extLst>
              </a:tr>
              <a:tr h="98272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sz="1200" b="1" kern="1200" noProof="0">
                          <a:ln>
                            <a:noFill/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00" b="1" noProof="0">
                          <a:latin typeface="+mn-lt"/>
                        </a:rPr>
                        <a:t>Repeated </a:t>
                      </a:r>
                      <a:r>
                        <a:rPr lang="en-US" sz="1100" b="1" noProof="0"/>
                        <a:t>Production Re-Scheduling After P-Start</a:t>
                      </a:r>
                      <a:endParaRPr lang="en-US" sz="1100" b="1" noProof="0">
                        <a:ln>
                          <a:noFill/>
                        </a:ln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1-9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1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2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48.2%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38.3%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7.5%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2%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8FA3A1"/>
                          </a:solidFill>
                          <a:latin typeface="+mn-lt"/>
                        </a:rPr>
                        <a:t>-13.5 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8FA3A1"/>
                          </a:solidFill>
                          <a:latin typeface="+mn-lt"/>
                        </a:rPr>
                        <a:t>-16.5 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+5.5 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+11.5 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MEDIUM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842181"/>
                  </a:ext>
                </a:extLst>
              </a:tr>
            </a:tbl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A606D7B-1394-F809-48B6-291947825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/>
              <a:t>Two Post-Release Execution Gaps Require Immediate Management Attention</a:t>
            </a:r>
          </a:p>
        </p:txBody>
      </p:sp>
      <p:pic>
        <p:nvPicPr>
          <p:cNvPr id="3" name="Grafik 2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690BDC07-85D9-09BF-8BAD-3AAA694BD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559AA29-4492-F9BA-E7BE-A549987B03A5}"/>
              </a:ext>
            </a:extLst>
          </p:cNvPr>
          <p:cNvCxnSpPr>
            <a:cxnSpLocks/>
          </p:cNvCxnSpPr>
          <p:nvPr/>
        </p:nvCxnSpPr>
        <p:spPr>
          <a:xfrm flipV="1">
            <a:off x="5418849" y="1714801"/>
            <a:ext cx="0" cy="2975543"/>
          </a:xfrm>
          <a:prstGeom prst="straightConnector1">
            <a:avLst/>
          </a:prstGeom>
          <a:ln w="38100">
            <a:solidFill>
              <a:srgbClr val="8FA3A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DB694DAD-52B6-5FA3-E68F-AEF30509E60C}"/>
              </a:ext>
            </a:extLst>
          </p:cNvPr>
          <p:cNvCxnSpPr>
            <a:cxnSpLocks/>
          </p:cNvCxnSpPr>
          <p:nvPr/>
        </p:nvCxnSpPr>
        <p:spPr>
          <a:xfrm>
            <a:off x="5418849" y="4693862"/>
            <a:ext cx="5969525" cy="0"/>
          </a:xfrm>
          <a:prstGeom prst="straightConnector1">
            <a:avLst/>
          </a:prstGeom>
          <a:ln w="38100">
            <a:solidFill>
              <a:srgbClr val="8FA3A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CB7D5226-4D05-82B5-0D78-8AA5F90EAB97}"/>
              </a:ext>
            </a:extLst>
          </p:cNvPr>
          <p:cNvSpPr txBox="1"/>
          <p:nvPr/>
        </p:nvSpPr>
        <p:spPr>
          <a:xfrm rot="16200000">
            <a:off x="4077391" y="2909335"/>
            <a:ext cx="2278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solidFill>
                  <a:srgbClr val="1F4E4A"/>
                </a:solidFill>
              </a:rPr>
              <a:t>Business Risk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DEBD679-270D-A886-BF85-650185981CD4}"/>
              </a:ext>
            </a:extLst>
          </p:cNvPr>
          <p:cNvSpPr txBox="1"/>
          <p:nvPr/>
        </p:nvSpPr>
        <p:spPr>
          <a:xfrm>
            <a:off x="6909684" y="4759718"/>
            <a:ext cx="340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solidFill>
                  <a:srgbClr val="1F4E4A"/>
                </a:solidFill>
              </a:rPr>
              <a:t>Implementation Effort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173AFC1-5CD5-9A64-866D-54F46F29E0F6}"/>
              </a:ext>
            </a:extLst>
          </p:cNvPr>
          <p:cNvSpPr/>
          <p:nvPr/>
        </p:nvSpPr>
        <p:spPr>
          <a:xfrm>
            <a:off x="5815693" y="1944392"/>
            <a:ext cx="2451656" cy="117792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/>
              <a:t>Immediate Management Actions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FC540A52-3327-1C97-AA13-34029FB9C2AD}"/>
              </a:ext>
            </a:extLst>
          </p:cNvPr>
          <p:cNvSpPr/>
          <p:nvPr/>
        </p:nvSpPr>
        <p:spPr>
          <a:xfrm>
            <a:off x="5815693" y="3223520"/>
            <a:ext cx="2451656" cy="1177926"/>
          </a:xfrm>
          <a:prstGeom prst="roundRect">
            <a:avLst/>
          </a:prstGeom>
          <a:solidFill>
            <a:srgbClr val="8FA3A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/>
              <a:t>Monitor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F34C883E-D82C-00B0-34AE-4C7CE68625B4}"/>
              </a:ext>
            </a:extLst>
          </p:cNvPr>
          <p:cNvSpPr/>
          <p:nvPr/>
        </p:nvSpPr>
        <p:spPr>
          <a:xfrm>
            <a:off x="8463644" y="3222444"/>
            <a:ext cx="2451656" cy="117792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/>
              <a:t>Not Economically Justified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0D151F43-7492-04BD-72F6-459737992C80}"/>
              </a:ext>
            </a:extLst>
          </p:cNvPr>
          <p:cNvSpPr/>
          <p:nvPr/>
        </p:nvSpPr>
        <p:spPr>
          <a:xfrm>
            <a:off x="8463644" y="1956455"/>
            <a:ext cx="2451656" cy="1177926"/>
          </a:xfrm>
          <a:prstGeom prst="roundRect">
            <a:avLst/>
          </a:prstGeom>
          <a:solidFill>
            <a:srgbClr val="8FA3A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/>
              <a:t>Structural Improvement Initiatives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74FDBC1-4D9F-4B95-5359-1FB0CEF205BF}"/>
              </a:ext>
            </a:extLst>
          </p:cNvPr>
          <p:cNvSpPr txBox="1"/>
          <p:nvPr/>
        </p:nvSpPr>
        <p:spPr>
          <a:xfrm rot="16200000">
            <a:off x="4888989" y="3208522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solidFill>
                  <a:srgbClr val="5FB3A2"/>
                </a:solidFill>
              </a:rPr>
              <a:t>Low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5641DBE-D191-2D16-98DD-5E6696A2DB20}"/>
              </a:ext>
            </a:extLst>
          </p:cNvPr>
          <p:cNvSpPr txBox="1"/>
          <p:nvPr/>
        </p:nvSpPr>
        <p:spPr>
          <a:xfrm rot="16200000">
            <a:off x="4884919" y="1998883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solidFill>
                  <a:srgbClr val="5FB3A2"/>
                </a:solidFill>
              </a:rPr>
              <a:t>High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C2705D0-597A-9681-3BF4-FB797252C97F}"/>
              </a:ext>
            </a:extLst>
          </p:cNvPr>
          <p:cNvSpPr txBox="1"/>
          <p:nvPr/>
        </p:nvSpPr>
        <p:spPr>
          <a:xfrm>
            <a:off x="6798878" y="4354203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solidFill>
                  <a:srgbClr val="5FB3A2"/>
                </a:solidFill>
              </a:rPr>
              <a:t>Low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ACB08BA9-BF13-5DC1-06B6-FF4B1F1DC021}"/>
              </a:ext>
            </a:extLst>
          </p:cNvPr>
          <p:cNvSpPr txBox="1"/>
          <p:nvPr/>
        </p:nvSpPr>
        <p:spPr>
          <a:xfrm>
            <a:off x="9267963" y="4354203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solidFill>
                  <a:srgbClr val="5FB3A2"/>
                </a:solidFill>
              </a:rPr>
              <a:t>High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2B808B03-5D48-46DF-3CF6-A170E9AC65CF}"/>
              </a:ext>
            </a:extLst>
          </p:cNvPr>
          <p:cNvCxnSpPr/>
          <p:nvPr/>
        </p:nvCxnSpPr>
        <p:spPr>
          <a:xfrm>
            <a:off x="5418849" y="3166896"/>
            <a:ext cx="5675896" cy="0"/>
          </a:xfrm>
          <a:prstGeom prst="line">
            <a:avLst/>
          </a:prstGeom>
          <a:ln>
            <a:solidFill>
              <a:srgbClr val="8FA3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8B09D29-C7A3-7557-A98E-1A81252E50B7}"/>
              </a:ext>
            </a:extLst>
          </p:cNvPr>
          <p:cNvCxnSpPr>
            <a:cxnSpLocks/>
          </p:cNvCxnSpPr>
          <p:nvPr/>
        </p:nvCxnSpPr>
        <p:spPr>
          <a:xfrm>
            <a:off x="8346017" y="1956455"/>
            <a:ext cx="43727" cy="2722926"/>
          </a:xfrm>
          <a:prstGeom prst="line">
            <a:avLst/>
          </a:prstGeom>
          <a:ln>
            <a:solidFill>
              <a:srgbClr val="8FA3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Gleichschenkliges Dreieck 52">
            <a:extLst>
              <a:ext uri="{FF2B5EF4-FFF2-40B4-BE49-F238E27FC236}">
                <a16:creationId xmlns:a16="http://schemas.microsoft.com/office/drawing/2014/main" id="{F3F063CC-8397-DFE8-F7CF-66BE9641BB28}"/>
              </a:ext>
            </a:extLst>
          </p:cNvPr>
          <p:cNvSpPr/>
          <p:nvPr/>
        </p:nvSpPr>
        <p:spPr>
          <a:xfrm>
            <a:off x="8004797" y="2357243"/>
            <a:ext cx="504000" cy="432000"/>
          </a:xfrm>
          <a:prstGeom prst="triangle">
            <a:avLst/>
          </a:prstGeom>
          <a:solidFill>
            <a:srgbClr val="D8B35A">
              <a:alpha val="8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/>
              <a:t>2</a:t>
            </a:r>
          </a:p>
        </p:txBody>
      </p:sp>
      <p:sp>
        <p:nvSpPr>
          <p:cNvPr id="56" name="Gleichschenkliges Dreieck 55">
            <a:extLst>
              <a:ext uri="{FF2B5EF4-FFF2-40B4-BE49-F238E27FC236}">
                <a16:creationId xmlns:a16="http://schemas.microsoft.com/office/drawing/2014/main" id="{59E8BACE-811F-71C2-42D0-0A45590792A6}"/>
              </a:ext>
            </a:extLst>
          </p:cNvPr>
          <p:cNvSpPr/>
          <p:nvPr/>
        </p:nvSpPr>
        <p:spPr>
          <a:xfrm>
            <a:off x="7193593" y="1685644"/>
            <a:ext cx="504000" cy="432000"/>
          </a:xfrm>
          <a:prstGeom prst="triangle">
            <a:avLst/>
          </a:prstGeom>
          <a:solidFill>
            <a:srgbClr val="D8B35A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/>
              <a:t>1</a:t>
            </a:r>
          </a:p>
        </p:txBody>
      </p:sp>
      <p:sp>
        <p:nvSpPr>
          <p:cNvPr id="57" name="Gleichschenkliges Dreieck 56">
            <a:extLst>
              <a:ext uri="{FF2B5EF4-FFF2-40B4-BE49-F238E27FC236}">
                <a16:creationId xmlns:a16="http://schemas.microsoft.com/office/drawing/2014/main" id="{33E2B86C-5E19-E863-EC42-7F0442FEE8A2}"/>
              </a:ext>
            </a:extLst>
          </p:cNvPr>
          <p:cNvSpPr/>
          <p:nvPr/>
        </p:nvSpPr>
        <p:spPr>
          <a:xfrm>
            <a:off x="6789977" y="3036661"/>
            <a:ext cx="504000" cy="432000"/>
          </a:xfrm>
          <a:prstGeom prst="triangle">
            <a:avLst/>
          </a:prstGeom>
          <a:solidFill>
            <a:srgbClr val="1F4E4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/>
              <a:t>3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503B87FD-F861-4473-C077-B29129CC3FCE}"/>
              </a:ext>
            </a:extLst>
          </p:cNvPr>
          <p:cNvSpPr/>
          <p:nvPr/>
        </p:nvSpPr>
        <p:spPr>
          <a:xfrm>
            <a:off x="4919085" y="1616008"/>
            <a:ext cx="45719" cy="4979736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FAF83E31-642E-DC9C-CE8F-EE16AD030CE4}"/>
              </a:ext>
            </a:extLst>
          </p:cNvPr>
          <p:cNvSpPr/>
          <p:nvPr/>
        </p:nvSpPr>
        <p:spPr>
          <a:xfrm>
            <a:off x="7467798" y="3434981"/>
            <a:ext cx="504000" cy="432000"/>
          </a:xfrm>
          <a:prstGeom prst="triangle">
            <a:avLst/>
          </a:prstGeom>
          <a:solidFill>
            <a:srgbClr val="1F4E4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/>
              <a:t>4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8E2D6CB-57FA-4268-1A7D-06541B6C0FCC}"/>
              </a:ext>
            </a:extLst>
          </p:cNvPr>
          <p:cNvSpPr txBox="1"/>
          <p:nvPr/>
        </p:nvSpPr>
        <p:spPr>
          <a:xfrm>
            <a:off x="5399891" y="5152381"/>
            <a:ext cx="5195482" cy="144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noProof="0">
                <a:solidFill>
                  <a:srgbClr val="1F4E4A"/>
                </a:solidFill>
              </a:rPr>
              <a:t>How to read:</a:t>
            </a:r>
            <a:r>
              <a:rPr lang="en-US" sz="1200" noProof="0">
                <a:solidFill>
                  <a:srgbClr val="1F4E4A"/>
                </a:solidFill>
              </a:rPr>
              <a:t> </a:t>
            </a:r>
          </a:p>
          <a:p>
            <a:r>
              <a:rPr lang="en-US" sz="1200" b="1" noProof="0">
                <a:solidFill>
                  <a:srgbClr val="1F4E4A"/>
                </a:solidFill>
                <a:ea typeface="+mn-lt"/>
                <a:cs typeface="+mn-lt"/>
              </a:rPr>
              <a:t>Top-left gaps require immediate management action</a:t>
            </a:r>
            <a:r>
              <a:rPr lang="en-US" sz="1200" noProof="0">
                <a:solidFill>
                  <a:srgbClr val="1F4E4A"/>
                </a:solidFill>
                <a:ea typeface="+mn-lt"/>
                <a:cs typeface="+mn-lt"/>
              </a:rPr>
              <a:t>, while others are monitored or addressed structurally based on effort–impact trade-off.</a:t>
            </a:r>
            <a:endParaRPr lang="en-US" sz="1200" noProof="0">
              <a:solidFill>
                <a:srgbClr val="202124"/>
              </a:solidFill>
              <a:ea typeface="+mn-lt"/>
              <a:cs typeface="+mn-lt"/>
            </a:endParaRPr>
          </a:p>
          <a:p>
            <a:endParaRPr lang="en-US" sz="1200" noProof="0">
              <a:solidFill>
                <a:srgbClr val="1F4E4A"/>
              </a:solidFill>
              <a:ea typeface="+mn-lt"/>
              <a:cs typeface="+mn-lt"/>
            </a:endParaRPr>
          </a:p>
          <a:p>
            <a:r>
              <a:rPr lang="en-US" sz="1000" noProof="0">
                <a:solidFill>
                  <a:srgbClr val="8FA3A1"/>
                </a:solidFill>
                <a:ea typeface="+mn-lt"/>
                <a:cs typeface="+mn-lt"/>
              </a:rPr>
              <a:t>Execution gaps are ranked by </a:t>
            </a:r>
            <a:r>
              <a:rPr lang="en-US" sz="1000" b="1" noProof="0">
                <a:solidFill>
                  <a:srgbClr val="8FA3A1"/>
                </a:solidFill>
                <a:ea typeface="+mn-lt"/>
                <a:cs typeface="+mn-lt"/>
              </a:rPr>
              <a:t>frequency, delay impact (Δ TPT vs. Happy Path), and business risk</a:t>
            </a:r>
            <a:r>
              <a:rPr lang="en-US" sz="1000" noProof="0">
                <a:solidFill>
                  <a:srgbClr val="8FA3A1"/>
                </a:solidFill>
                <a:ea typeface="+mn-lt"/>
                <a:cs typeface="+mn-lt"/>
              </a:rPr>
              <a:t>.</a:t>
            </a:r>
            <a:endParaRPr lang="en-US" sz="1000" noProof="0">
              <a:solidFill>
                <a:srgbClr val="8FA3A1"/>
              </a:solidFill>
            </a:endParaRPr>
          </a:p>
          <a:p>
            <a:r>
              <a:rPr lang="en-US" sz="1000" noProof="0">
                <a:solidFill>
                  <a:srgbClr val="8FA3A1"/>
                </a:solidFill>
                <a:ea typeface="+mn-lt"/>
                <a:cs typeface="+mn-lt"/>
              </a:rPr>
              <a:t>The matrix positions gaps by </a:t>
            </a:r>
            <a:r>
              <a:rPr lang="en-US" sz="1000" b="1" noProof="0">
                <a:solidFill>
                  <a:srgbClr val="8FA3A1"/>
                </a:solidFill>
                <a:ea typeface="+mn-lt"/>
                <a:cs typeface="+mn-lt"/>
              </a:rPr>
              <a:t>business risk (Y-axis)</a:t>
            </a:r>
            <a:r>
              <a:rPr lang="en-US" sz="1000" noProof="0">
                <a:solidFill>
                  <a:srgbClr val="8FA3A1"/>
                </a:solidFill>
                <a:ea typeface="+mn-lt"/>
                <a:cs typeface="+mn-lt"/>
              </a:rPr>
              <a:t> and </a:t>
            </a:r>
            <a:r>
              <a:rPr lang="en-US" sz="1000" b="1" noProof="0">
                <a:solidFill>
                  <a:srgbClr val="8FA3A1"/>
                </a:solidFill>
                <a:ea typeface="+mn-lt"/>
                <a:cs typeface="+mn-lt"/>
              </a:rPr>
              <a:t>implementation effort (X-axis)</a:t>
            </a:r>
            <a:r>
              <a:rPr lang="en-US" sz="1000" noProof="0">
                <a:solidFill>
                  <a:srgbClr val="8FA3A1"/>
                </a:solidFill>
                <a:ea typeface="+mn-lt"/>
                <a:cs typeface="+mn-lt"/>
              </a:rPr>
              <a:t>; numbers refer to the ranked gaps.</a:t>
            </a:r>
            <a:endParaRPr lang="en-US" sz="1000" noProof="0">
              <a:solidFill>
                <a:srgbClr val="8FA3A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F9F4D8E-7A82-4F77-B8C9-2D40FA88AA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6 </a:t>
            </a:r>
          </a:p>
        </p:txBody>
      </p:sp>
    </p:spTree>
    <p:extLst>
      <p:ext uri="{BB962C8B-B14F-4D97-AF65-F5344CB8AC3E}">
        <p14:creationId xmlns:p14="http://schemas.microsoft.com/office/powerpoint/2010/main" val="1123821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BDFB6A-8E9D-BD70-DFF2-0F509E88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1" y="661848"/>
            <a:ext cx="11097738" cy="965871"/>
          </a:xfrm>
        </p:spPr>
        <p:txBody>
          <a:bodyPr>
            <a:normAutofit fontScale="90000"/>
          </a:bodyPr>
          <a:lstStyle/>
          <a:p>
            <a:r>
              <a:rPr lang="en-GB" dirty="0"/>
              <a:t>Combining lateness, quantity deviations, value exposure, and frequency enables impact based prioritization</a:t>
            </a:r>
            <a:endParaRPr lang="en-US" noProof="0" dirty="0"/>
          </a:p>
        </p:txBody>
      </p:sp>
      <p:pic>
        <p:nvPicPr>
          <p:cNvPr id="4" name="Grafik 3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021B605F-E5B4-6F82-8AD5-79CA58414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05E93A33-94A3-C2F2-4AAC-53C121BE7E36}"/>
              </a:ext>
            </a:extLst>
          </p:cNvPr>
          <p:cNvSpPr/>
          <p:nvPr/>
        </p:nvSpPr>
        <p:spPr>
          <a:xfrm>
            <a:off x="5186681" y="1825615"/>
            <a:ext cx="45719" cy="4326319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97AA40E-AD17-9288-3463-8A7F8650B3C6}"/>
              </a:ext>
            </a:extLst>
          </p:cNvPr>
          <p:cNvSpPr txBox="1"/>
          <p:nvPr/>
        </p:nvSpPr>
        <p:spPr>
          <a:xfrm>
            <a:off x="351311" y="1655615"/>
            <a:ext cx="4511129" cy="35317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 noProof="0"/>
              <a:t>Analytical Approach</a:t>
            </a:r>
          </a:p>
          <a:p>
            <a:endParaRPr lang="en-US" sz="1200" b="1" noProof="0"/>
          </a:p>
          <a:p>
            <a:r>
              <a:rPr lang="en-GB" sz="1100" b="1">
                <a:highlight>
                  <a:srgbClr val="5FB3A2"/>
                </a:highlight>
              </a:rPr>
              <a:t>We focus on attributes that jointly explain operational risk and business impact:</a:t>
            </a:r>
          </a:p>
          <a:p>
            <a:endParaRPr lang="en-GB" sz="1100"/>
          </a:p>
          <a:p>
            <a:r>
              <a:rPr lang="en-GB" sz="1050" b="1"/>
              <a:t>Delivery timeliness</a:t>
            </a:r>
            <a:br>
              <a:rPr lang="en-GB" sz="1050"/>
            </a:br>
            <a:r>
              <a:rPr lang="en-GB" sz="1050"/>
              <a:t>Identifies systemic execution instability and planning reliability issues.</a:t>
            </a:r>
          </a:p>
          <a:p>
            <a:r>
              <a:rPr lang="en-GB" sz="1050" b="1"/>
              <a:t>Quantity tolerance deviations</a:t>
            </a:r>
            <a:br>
              <a:rPr lang="en-GB" sz="1050"/>
            </a:br>
            <a:r>
              <a:rPr lang="en-GB" sz="1050"/>
              <a:t>Indicates late order changes and post-release rework beyond the controllable execution window.</a:t>
            </a:r>
          </a:p>
          <a:p>
            <a:r>
              <a:rPr lang="en-GB" sz="1050" b="1"/>
              <a:t>Value exposure</a:t>
            </a:r>
            <a:br>
              <a:rPr lang="en-GB" sz="1050"/>
            </a:br>
            <a:r>
              <a:rPr lang="en-GB" sz="1050"/>
              <a:t>Ensures management focus on deviations with material business impact.</a:t>
            </a:r>
          </a:p>
          <a:p>
            <a:r>
              <a:rPr lang="en-GB" sz="1050" b="1"/>
              <a:t>Frequency across orders</a:t>
            </a:r>
            <a:br>
              <a:rPr lang="en-GB" sz="1050"/>
            </a:br>
            <a:r>
              <a:rPr lang="en-GB" sz="1050"/>
              <a:t>Distinguishes isolated exceptions from recurring execution gaps.</a:t>
            </a:r>
          </a:p>
          <a:p>
            <a:endParaRPr lang="en-GB" sz="1050"/>
          </a:p>
          <a:p>
            <a:r>
              <a:rPr lang="en-GB" sz="1050" b="1"/>
              <a:t>These attributes allow us to separate stable execution from high-impact deviation patterns and prioritize management action.</a:t>
            </a:r>
            <a:endParaRPr lang="en-GB" sz="1050"/>
          </a:p>
          <a:p>
            <a:endParaRPr lang="en-US" sz="1600" b="1" noProof="0">
              <a:highlight>
                <a:srgbClr val="D8B35A"/>
              </a:highlight>
            </a:endParaRPr>
          </a:p>
          <a:p>
            <a:endParaRPr lang="en-US" sz="1000" noProof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31FD8E1-9382-6956-D409-E69BD271D90C}"/>
              </a:ext>
            </a:extLst>
          </p:cNvPr>
          <p:cNvSpPr txBox="1"/>
          <p:nvPr/>
        </p:nvSpPr>
        <p:spPr>
          <a:xfrm>
            <a:off x="5501891" y="5536381"/>
            <a:ext cx="61014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noProof="0">
                <a:solidFill>
                  <a:srgbClr val="1F4E4A"/>
                </a:solidFill>
              </a:rPr>
              <a:t>How to read:</a:t>
            </a:r>
            <a:r>
              <a:rPr lang="en-US" sz="1200" noProof="0">
                <a:solidFill>
                  <a:srgbClr val="1F4E4A"/>
                </a:solidFill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noProof="0">
                <a:solidFill>
                  <a:srgbClr val="1F4E4A"/>
                </a:solidFill>
              </a:rPr>
              <a:t>X = Qty deviation rate, Y = Late rate, Bubble = value exposure;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i="1" noProof="0">
                <a:solidFill>
                  <a:srgbClr val="8FA3A1"/>
                </a:solidFill>
              </a:rPr>
              <a:t>lines = median of plotted segments</a:t>
            </a:r>
          </a:p>
        </p:txBody>
      </p:sp>
      <p:pic>
        <p:nvPicPr>
          <p:cNvPr id="12" name="Grafik 11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B4E0D219-25CB-1960-1DEA-CF2856289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641" y="2138573"/>
            <a:ext cx="5629531" cy="3352212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413ACC9B-0256-ED20-DD18-A4A12E577D84}"/>
              </a:ext>
            </a:extLst>
          </p:cNvPr>
          <p:cNvSpPr txBox="1"/>
          <p:nvPr/>
        </p:nvSpPr>
        <p:spPr>
          <a:xfrm>
            <a:off x="351311" y="4978620"/>
            <a:ext cx="472527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noProof="0">
                <a:highlight>
                  <a:srgbClr val="D8B35A"/>
                </a:highlight>
              </a:rPr>
              <a:t>Assessment Priority Example: Customer Country</a:t>
            </a:r>
          </a:p>
          <a:p>
            <a:pPr>
              <a:buNone/>
            </a:pPr>
            <a:endParaRPr lang="en-US" sz="1000" noProof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b="1" noProof="0"/>
              <a:t>CH</a:t>
            </a:r>
            <a:r>
              <a:rPr lang="en-US" sz="1000" noProof="0"/>
              <a:t>: extreme late-rate outlier → timeliness-driven execution instability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b="1" noProof="0"/>
              <a:t>NL / ES</a:t>
            </a:r>
            <a:r>
              <a:rPr lang="en-US" sz="1000" noProof="0"/>
              <a:t>: elevated late rates with high value exposure → economically relevant patterns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b="1" noProof="0"/>
              <a:t>US</a:t>
            </a:r>
            <a:r>
              <a:rPr lang="en-US" sz="1000" noProof="0"/>
              <a:t>: high quantity deviation + delay exposure → post-release quantity corrections</a:t>
            </a:r>
          </a:p>
          <a:p>
            <a:r>
              <a:rPr lang="en-US" sz="1000" i="1" noProof="0">
                <a:solidFill>
                  <a:srgbClr val="8FA3A1"/>
                </a:solidFill>
              </a:rPr>
              <a:t>(DE/FR appear sizeable mainly due to baseline volume; they are treated as reference segments)</a:t>
            </a:r>
            <a:endParaRPr lang="en-US" sz="1100" noProof="0">
              <a:solidFill>
                <a:srgbClr val="8FA3A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DB0E124-A287-04B8-7CC8-21298319E544}"/>
              </a:ext>
            </a:extLst>
          </p:cNvPr>
          <p:cNvSpPr txBox="1"/>
          <p:nvPr/>
        </p:nvSpPr>
        <p:spPr>
          <a:xfrm>
            <a:off x="5287243" y="1723125"/>
            <a:ext cx="6101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>
                <a:highlight>
                  <a:srgbClr val="D8B35A"/>
                </a:highlight>
              </a:rPr>
              <a:t>Identified Assessment Priority Markets</a:t>
            </a:r>
            <a:endParaRPr lang="en-US" noProof="0">
              <a:highlight>
                <a:srgbClr val="D8B35A"/>
              </a:highlight>
            </a:endParaRPr>
          </a:p>
        </p:txBody>
      </p:sp>
      <p:sp>
        <p:nvSpPr>
          <p:cNvPr id="19" name="Gleichschenkliges Dreieck 18">
            <a:extLst>
              <a:ext uri="{FF2B5EF4-FFF2-40B4-BE49-F238E27FC236}">
                <a16:creationId xmlns:a16="http://schemas.microsoft.com/office/drawing/2014/main" id="{9C23276A-D8E4-00B8-326C-3D992C255EDC}"/>
              </a:ext>
            </a:extLst>
          </p:cNvPr>
          <p:cNvSpPr/>
          <p:nvPr/>
        </p:nvSpPr>
        <p:spPr>
          <a:xfrm>
            <a:off x="9440029" y="3153288"/>
            <a:ext cx="486803" cy="440754"/>
          </a:xfrm>
          <a:prstGeom prst="triangle">
            <a:avLst/>
          </a:prstGeom>
          <a:noFill/>
          <a:ln>
            <a:solidFill>
              <a:srgbClr val="D8B3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0" name="Gleichschenkliges Dreieck 19">
            <a:extLst>
              <a:ext uri="{FF2B5EF4-FFF2-40B4-BE49-F238E27FC236}">
                <a16:creationId xmlns:a16="http://schemas.microsoft.com/office/drawing/2014/main" id="{DFFFF330-C8AF-D697-CD1C-8895E6CC0C07}"/>
              </a:ext>
            </a:extLst>
          </p:cNvPr>
          <p:cNvSpPr/>
          <p:nvPr/>
        </p:nvSpPr>
        <p:spPr>
          <a:xfrm>
            <a:off x="7053159" y="2264072"/>
            <a:ext cx="486803" cy="440754"/>
          </a:xfrm>
          <a:prstGeom prst="triangle">
            <a:avLst/>
          </a:prstGeom>
          <a:noFill/>
          <a:ln>
            <a:solidFill>
              <a:srgbClr val="D8B3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Gleichschenkliges Dreieck 20">
            <a:extLst>
              <a:ext uri="{FF2B5EF4-FFF2-40B4-BE49-F238E27FC236}">
                <a16:creationId xmlns:a16="http://schemas.microsoft.com/office/drawing/2014/main" id="{B3A470AA-80A5-097B-93EE-9D74BB621B5C}"/>
              </a:ext>
            </a:extLst>
          </p:cNvPr>
          <p:cNvSpPr/>
          <p:nvPr/>
        </p:nvSpPr>
        <p:spPr>
          <a:xfrm>
            <a:off x="9874204" y="3226294"/>
            <a:ext cx="486803" cy="440754"/>
          </a:xfrm>
          <a:prstGeom prst="triangle">
            <a:avLst/>
          </a:prstGeom>
          <a:noFill/>
          <a:ln>
            <a:solidFill>
              <a:srgbClr val="D8B3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2" name="Gleichschenkliges Dreieck 21">
            <a:extLst>
              <a:ext uri="{FF2B5EF4-FFF2-40B4-BE49-F238E27FC236}">
                <a16:creationId xmlns:a16="http://schemas.microsoft.com/office/drawing/2014/main" id="{E7BF8BD2-3330-DB2E-1B7A-16F73DC65116}"/>
              </a:ext>
            </a:extLst>
          </p:cNvPr>
          <p:cNvSpPr/>
          <p:nvPr/>
        </p:nvSpPr>
        <p:spPr>
          <a:xfrm>
            <a:off x="10441846" y="3667048"/>
            <a:ext cx="486803" cy="440754"/>
          </a:xfrm>
          <a:prstGeom prst="triangle">
            <a:avLst/>
          </a:prstGeom>
          <a:noFill/>
          <a:ln>
            <a:solidFill>
              <a:srgbClr val="D8B3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D331C7D-453C-0634-2DAA-B07E7E91D31A}"/>
              </a:ext>
            </a:extLst>
          </p:cNvPr>
          <p:cNvSpPr txBox="1"/>
          <p:nvPr/>
        </p:nvSpPr>
        <p:spPr>
          <a:xfrm>
            <a:off x="6620285" y="4323949"/>
            <a:ext cx="1352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noProof="0">
                <a:solidFill>
                  <a:srgbClr val="5FB3A2"/>
                </a:solidFill>
              </a:rPr>
              <a:t>Stable execution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9D5E520-F916-AD9C-93B6-0193BA056DC3}"/>
              </a:ext>
            </a:extLst>
          </p:cNvPr>
          <p:cNvSpPr txBox="1"/>
          <p:nvPr/>
        </p:nvSpPr>
        <p:spPr>
          <a:xfrm>
            <a:off x="6467884" y="2791465"/>
            <a:ext cx="2278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noProof="0">
                <a:solidFill>
                  <a:srgbClr val="5FB3A2"/>
                </a:solidFill>
              </a:rPr>
              <a:t>Timeliness-driven instability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FA1A2E9-35B7-E54E-D350-3E99AD2321D7}"/>
              </a:ext>
            </a:extLst>
          </p:cNvPr>
          <p:cNvSpPr txBox="1"/>
          <p:nvPr/>
        </p:nvSpPr>
        <p:spPr>
          <a:xfrm>
            <a:off x="9332697" y="2789262"/>
            <a:ext cx="185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noProof="0">
                <a:solidFill>
                  <a:srgbClr val="5FB3A2"/>
                </a:solidFill>
              </a:rPr>
              <a:t>High severity deviations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53C434D-BAF6-BBC3-7F12-CFDF84C8D321}"/>
              </a:ext>
            </a:extLst>
          </p:cNvPr>
          <p:cNvSpPr txBox="1"/>
          <p:nvPr/>
        </p:nvSpPr>
        <p:spPr>
          <a:xfrm>
            <a:off x="9228569" y="4323949"/>
            <a:ext cx="19576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noProof="0">
                <a:solidFill>
                  <a:srgbClr val="5FB3A2"/>
                </a:solidFill>
              </a:rPr>
              <a:t>Quantity-driven corrections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8C8A63A0-B418-CD05-92D8-215A3EF90E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7 </a:t>
            </a:r>
          </a:p>
        </p:txBody>
      </p:sp>
    </p:spTree>
    <p:extLst>
      <p:ext uri="{BB962C8B-B14F-4D97-AF65-F5344CB8AC3E}">
        <p14:creationId xmlns:p14="http://schemas.microsoft.com/office/powerpoint/2010/main" val="262781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A29573-077A-7080-A4D3-D812716D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293" y="85161"/>
            <a:ext cx="11145363" cy="965871"/>
          </a:xfrm>
        </p:spPr>
        <p:txBody>
          <a:bodyPr>
            <a:noAutofit/>
          </a:bodyPr>
          <a:lstStyle/>
          <a:p>
            <a:r>
              <a:rPr lang="en-GB" sz="3200" dirty="0"/>
              <a:t>Post loading quantity corrections affect few orders but drive disproportionate delay and value exposure</a:t>
            </a:r>
            <a:endParaRPr lang="de-DE" sz="3200" dirty="0"/>
          </a:p>
        </p:txBody>
      </p:sp>
      <p:pic>
        <p:nvPicPr>
          <p:cNvPr id="4" name="Grafik 3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A3CA0D09-09FE-AE0B-C9B8-EE0BAA40C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9DF2B2A-A855-CB84-3FDD-44A803C65920}"/>
              </a:ext>
            </a:extLst>
          </p:cNvPr>
          <p:cNvSpPr txBox="1"/>
          <p:nvPr/>
        </p:nvSpPr>
        <p:spPr>
          <a:xfrm>
            <a:off x="317293" y="977448"/>
            <a:ext cx="73764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noProof="0" dirty="0"/>
              <a:t>GAP DEFINITION:</a:t>
            </a:r>
            <a:r>
              <a:rPr lang="en-US" noProof="0" dirty="0"/>
              <a:t> Quantity is changed </a:t>
            </a:r>
            <a:r>
              <a:rPr lang="en-US" b="1" i="1" noProof="0" dirty="0"/>
              <a:t>after </a:t>
            </a:r>
            <a:r>
              <a:rPr lang="en-US" noProof="0" dirty="0"/>
              <a:t>shipment was loaded. 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F71A22E-36FD-171C-A5F0-6EC1D8B72994}"/>
              </a:ext>
            </a:extLst>
          </p:cNvPr>
          <p:cNvSpPr txBox="1"/>
          <p:nvPr/>
        </p:nvSpPr>
        <p:spPr>
          <a:xfrm>
            <a:off x="1319099" y="1723962"/>
            <a:ext cx="4199383" cy="18063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noProof="0" dirty="0">
                <a:solidFill>
                  <a:srgbClr val="202124"/>
                </a:solidFill>
                <a:highlight>
                  <a:srgbClr val="5FB3A2"/>
                </a:highlight>
              </a:rPr>
              <a:t>Urgency</a:t>
            </a:r>
            <a:endParaRPr lang="en-US" noProof="0" dirty="0">
              <a:highlight>
                <a:srgbClr val="5FB3A2"/>
              </a:highlight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affects ~28% of processes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represents ~46% of ordered value</a:t>
            </a:r>
            <a:endParaRPr lang="en-US" sz="1600" noProof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 dirty="0">
                <a:highlight>
                  <a:srgbClr val="D8B35A"/>
                </a:highlight>
              </a:rPr>
              <a:t>Difference in median TPT: </a:t>
            </a:r>
            <a:r>
              <a:rPr lang="en-US" sz="1600" b="1" noProof="0" dirty="0">
                <a:highlight>
                  <a:srgbClr val="D8B35A"/>
                </a:highlight>
              </a:rPr>
              <a:t>+ 11 days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Hits high-value orders harder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0481DF1-EA62-EA0A-D82A-1BBDCC1FBC5D}"/>
              </a:ext>
            </a:extLst>
          </p:cNvPr>
          <p:cNvSpPr txBox="1"/>
          <p:nvPr/>
        </p:nvSpPr>
        <p:spPr>
          <a:xfrm>
            <a:off x="1319099" y="3606554"/>
            <a:ext cx="419938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noProof="0" dirty="0">
                <a:solidFill>
                  <a:srgbClr val="202124"/>
                </a:solidFill>
              </a:rPr>
              <a:t>Factory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aseline="0" noProof="0" dirty="0">
                <a:solidFill>
                  <a:srgbClr val="202124"/>
                </a:solidFill>
              </a:rPr>
              <a:t>Mostly in </a:t>
            </a:r>
            <a:r>
              <a:rPr lang="en-US" sz="1600" b="1" baseline="0" noProof="0" dirty="0">
                <a:solidFill>
                  <a:srgbClr val="202124"/>
                </a:solidFill>
              </a:rPr>
              <a:t>Essen (63,61%)</a:t>
            </a:r>
            <a:endParaRPr lang="en-US" sz="1600" b="1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Bonn </a:t>
            </a:r>
            <a:r>
              <a:rPr lang="en-US" sz="1600" noProof="0" dirty="0"/>
              <a:t>is also overrepresented</a:t>
            </a:r>
            <a:r>
              <a:rPr lang="en-US" sz="1600" b="1" noProof="0" dirty="0"/>
              <a:t> (10,77% vs. </a:t>
            </a:r>
            <a:r>
              <a:rPr lang="en-US" sz="1600" b="1" dirty="0"/>
              <a:t>5,84</a:t>
            </a:r>
            <a:r>
              <a:rPr lang="en-US" sz="1600" b="1" noProof="0" dirty="0"/>
              <a:t>%)</a:t>
            </a:r>
          </a:p>
          <a:p>
            <a:pPr algn="ctr"/>
            <a:endParaRPr lang="en-US" noProof="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39E1751-D864-7697-51A5-B5C31A040A42}"/>
              </a:ext>
            </a:extLst>
          </p:cNvPr>
          <p:cNvSpPr txBox="1"/>
          <p:nvPr/>
        </p:nvSpPr>
        <p:spPr>
          <a:xfrm>
            <a:off x="8012471" y="1764695"/>
            <a:ext cx="32385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 dirty="0">
                <a:solidFill>
                  <a:srgbClr val="202124"/>
                </a:solidFill>
              </a:rPr>
              <a:t>Product type distribution of post-loading quantity corrections</a:t>
            </a:r>
            <a:endParaRPr lang="de-DE" sz="1100" b="1" dirty="0">
              <a:solidFill>
                <a:srgbClr val="202124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BD16229-C9B3-8634-A829-3550D09EDB6D}"/>
              </a:ext>
            </a:extLst>
          </p:cNvPr>
          <p:cNvSpPr txBox="1"/>
          <p:nvPr/>
        </p:nvSpPr>
        <p:spPr>
          <a:xfrm>
            <a:off x="1331648" y="4631706"/>
            <a:ext cx="4199383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02124"/>
                </a:solidFill>
              </a:rPr>
              <a:t>Customer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02124"/>
                </a:solidFill>
              </a:rPr>
              <a:t>Brand AG</a:t>
            </a:r>
            <a:r>
              <a:rPr lang="en-US" sz="1600" dirty="0">
                <a:solidFill>
                  <a:srgbClr val="202124"/>
                </a:solidFill>
              </a:rPr>
              <a:t> is overrepresented </a:t>
            </a:r>
            <a:r>
              <a:rPr lang="en-US" sz="1600" b="1" dirty="0">
                <a:solidFill>
                  <a:srgbClr val="202124"/>
                </a:solidFill>
              </a:rPr>
              <a:t>(20,63%)</a:t>
            </a:r>
            <a:endParaRPr lang="en-US" sz="1600" b="1" noProof="0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F1F2400-AE14-13FF-B6DE-35BD35E0E466}"/>
              </a:ext>
            </a:extLst>
          </p:cNvPr>
          <p:cNvSpPr/>
          <p:nvPr/>
        </p:nvSpPr>
        <p:spPr>
          <a:xfrm>
            <a:off x="7003235" y="1839222"/>
            <a:ext cx="45719" cy="4326319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833D217-9DE7-0551-156A-D1F506B5FA0D}"/>
              </a:ext>
            </a:extLst>
          </p:cNvPr>
          <p:cNvSpPr txBox="1"/>
          <p:nvPr/>
        </p:nvSpPr>
        <p:spPr>
          <a:xfrm>
            <a:off x="8011869" y="5401072"/>
            <a:ext cx="323910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noProof="0" dirty="0">
                <a:solidFill>
                  <a:srgbClr val="1F4E4A"/>
                </a:solidFill>
              </a:rPr>
              <a:t>How to read:</a:t>
            </a:r>
            <a:r>
              <a:rPr lang="en-US" sz="1200" dirty="0">
                <a:solidFill>
                  <a:srgbClr val="1F4E4A"/>
                </a:solidFill>
              </a:rPr>
              <a:t> </a:t>
            </a:r>
            <a:r>
              <a:rPr lang="en-GB" sz="1200" dirty="0">
                <a:solidFill>
                  <a:srgbClr val="1F4E4A"/>
                </a:solidFill>
              </a:rPr>
              <a:t>Post-loading quantity corrections mainly affect crate production and the transportation customer segment.</a:t>
            </a:r>
            <a:endParaRPr lang="en-US" sz="1200" noProof="0" dirty="0">
              <a:solidFill>
                <a:srgbClr val="1F4E4A"/>
              </a:solidFill>
            </a:endParaRP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C4A0CD37-9F92-4E71-44F1-028D8423EA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8 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604DD8A-607B-58B2-43D4-B2844692A19C}"/>
              </a:ext>
            </a:extLst>
          </p:cNvPr>
          <p:cNvSpPr txBox="1"/>
          <p:nvPr/>
        </p:nvSpPr>
        <p:spPr>
          <a:xfrm>
            <a:off x="509384" y="5534780"/>
            <a:ext cx="5664622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 dirty="0">
                <a:solidFill>
                  <a:srgbClr val="202124"/>
                </a:solidFill>
                <a:highlight>
                  <a:srgbClr val="5FB3A2"/>
                </a:highlight>
              </a:rPr>
              <a:t>Key Message</a:t>
            </a:r>
          </a:p>
          <a:p>
            <a:r>
              <a:rPr lang="en-US" sz="1400" dirty="0">
                <a:solidFill>
                  <a:srgbClr val="202124"/>
                </a:solidFill>
              </a:rPr>
              <a:t>This execution</a:t>
            </a:r>
            <a:r>
              <a:rPr lang="en-US" sz="1400" dirty="0">
                <a:solidFill>
                  <a:srgbClr val="202124"/>
                </a:solidFill>
                <a:ea typeface="+mn-lt"/>
                <a:cs typeface="+mn-lt"/>
              </a:rPr>
              <a:t> gap is very impactful and mostly rooted in high value orders, concentrated on both particular customers and factories.</a:t>
            </a:r>
            <a:endParaRPr lang="en-US" sz="1400" dirty="0">
              <a:solidFill>
                <a:srgbClr val="202124"/>
              </a:solidFill>
            </a:endParaRPr>
          </a:p>
        </p:txBody>
      </p:sp>
      <p:pic>
        <p:nvPicPr>
          <p:cNvPr id="6" name="Grafik 5" descr="Ein Bild, das Kreis, Screenshot, Grafiken, Diagramm enthält.&#10;&#10;KI-generierte Inhalte können fehlerhaft sein.">
            <a:extLst>
              <a:ext uri="{FF2B5EF4-FFF2-40B4-BE49-F238E27FC236}">
                <a16:creationId xmlns:a16="http://schemas.microsoft.com/office/drawing/2014/main" id="{06CB7948-B783-0D6A-3BE0-2DF02DC20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061" y="2285230"/>
            <a:ext cx="3240959" cy="311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44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9B89C-8918-2D7D-E1F8-FBE3198F5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F53F68-EEE5-B7E7-CFFD-54A55E307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293" y="105571"/>
            <a:ext cx="11145363" cy="965871"/>
          </a:xfrm>
        </p:spPr>
        <p:txBody>
          <a:bodyPr>
            <a:noAutofit/>
          </a:bodyPr>
          <a:lstStyle/>
          <a:p>
            <a:r>
              <a:rPr lang="en-GB" sz="3200" dirty="0"/>
              <a:t>Credit blocks create severe delays for a relevant share of orders but lack a single dominant root cause</a:t>
            </a:r>
            <a:endParaRPr lang="en-US" sz="3200" noProof="0" dirty="0"/>
          </a:p>
        </p:txBody>
      </p:sp>
      <p:pic>
        <p:nvPicPr>
          <p:cNvPr id="4" name="Grafik 3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E0E9E0D5-FABB-5FFE-943D-78459C371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A48C208-9D55-43CA-980D-D1588F0C2FC2}"/>
              </a:ext>
            </a:extLst>
          </p:cNvPr>
          <p:cNvSpPr txBox="1"/>
          <p:nvPr/>
        </p:nvSpPr>
        <p:spPr>
          <a:xfrm>
            <a:off x="353785" y="945696"/>
            <a:ext cx="73764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noProof="0" dirty="0"/>
              <a:t>GAP DEFINITION:</a:t>
            </a:r>
            <a:r>
              <a:rPr lang="en-US" noProof="0" dirty="0"/>
              <a:t> Credit order is being blocked </a:t>
            </a:r>
            <a:r>
              <a:rPr lang="en-US" b="1" i="1" noProof="0" dirty="0"/>
              <a:t>at least once</a:t>
            </a:r>
            <a:r>
              <a:rPr lang="en-US" noProof="0" dirty="0"/>
              <a:t>. 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721F51E-09EB-E502-A519-C207B3FAF81B}"/>
              </a:ext>
            </a:extLst>
          </p:cNvPr>
          <p:cNvSpPr txBox="1"/>
          <p:nvPr/>
        </p:nvSpPr>
        <p:spPr>
          <a:xfrm>
            <a:off x="6272407" y="3229216"/>
            <a:ext cx="4680858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baseline="0" dirty="0">
                <a:solidFill>
                  <a:srgbClr val="202124"/>
                </a:solidFill>
                <a:latin typeface="IBM Plex Sans"/>
                <a:ea typeface="Segoe UI"/>
                <a:cs typeface="Segoe UI"/>
              </a:rPr>
              <a:t>Customer</a:t>
            </a:r>
            <a:r>
              <a:rPr lang="en-US" b="1" dirty="0">
                <a:solidFill>
                  <a:srgbClr val="202124"/>
                </a:solidFill>
                <a:latin typeface="IBM Plex Sans"/>
                <a:ea typeface="Segoe UI"/>
                <a:cs typeface="Segoe UI"/>
              </a:rPr>
              <a:t> Country</a:t>
            </a:r>
            <a:endParaRPr lang="en-US" dirty="0">
              <a:solidFill>
                <a:srgbClr val="202124"/>
              </a:solidFill>
              <a:latin typeface="IBM Plex Sans"/>
              <a:ea typeface="Segoe UI"/>
              <a:cs typeface="Segoe UI"/>
            </a:endParaRPr>
          </a:p>
          <a:p>
            <a:r>
              <a:rPr lang="en-US" sz="1600" dirty="0">
                <a:solidFill>
                  <a:srgbClr val="202124"/>
                </a:solidFill>
                <a:latin typeface="IBM Plex Sans"/>
                <a:ea typeface="Arial"/>
                <a:cs typeface="Segoe UI"/>
              </a:rPr>
              <a:t>Nothing unusual, except for some slight overrepresentations </a:t>
            </a:r>
            <a:r>
              <a:rPr lang="en-US" sz="1600" b="1" dirty="0">
                <a:solidFill>
                  <a:srgbClr val="202124"/>
                </a:solidFill>
                <a:latin typeface="IBM Plex Sans"/>
                <a:ea typeface="Arial"/>
                <a:cs typeface="Segoe UI"/>
              </a:rPr>
              <a:t>(France, Netherlands)</a:t>
            </a:r>
            <a:r>
              <a:rPr lang="en-US" sz="1600" dirty="0">
                <a:solidFill>
                  <a:srgbClr val="202124"/>
                </a:solidFill>
                <a:latin typeface="IBM Plex Sans"/>
                <a:ea typeface="Arial"/>
                <a:cs typeface="Segoe UI"/>
              </a:rPr>
              <a:t>. Generally everything outside the EU is slightly overrepresented.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8641FA9-9E2A-CD4B-D60F-5C9D1F8910F5}"/>
              </a:ext>
            </a:extLst>
          </p:cNvPr>
          <p:cNvSpPr txBox="1"/>
          <p:nvPr/>
        </p:nvSpPr>
        <p:spPr>
          <a:xfrm>
            <a:off x="6272407" y="2022774"/>
            <a:ext cx="4321847" cy="10677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noProof="0" dirty="0">
                <a:solidFill>
                  <a:srgbClr val="202124"/>
                </a:solidFill>
                <a:highlight>
                  <a:srgbClr val="5FB3A2"/>
                </a:highlight>
              </a:rPr>
              <a:t>Urgency</a:t>
            </a:r>
            <a:endParaRPr lang="en-US" noProof="0" dirty="0">
              <a:solidFill>
                <a:srgbClr val="202124"/>
              </a:solidFill>
              <a:highlight>
                <a:srgbClr val="5FB3A2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Affects</a:t>
            </a:r>
            <a:r>
              <a:rPr lang="en-US" sz="1600" noProof="0" dirty="0">
                <a:solidFill>
                  <a:srgbClr val="202124"/>
                </a:solidFill>
              </a:rPr>
              <a:t> </a:t>
            </a:r>
            <a:r>
              <a:rPr lang="en-US" sz="1600" b="1" noProof="0" dirty="0">
                <a:solidFill>
                  <a:srgbClr val="202124"/>
                </a:solidFill>
              </a:rPr>
              <a:t>~</a:t>
            </a:r>
            <a:r>
              <a:rPr lang="en-US" sz="1600" b="1" dirty="0">
                <a:solidFill>
                  <a:srgbClr val="202124"/>
                </a:solidFill>
              </a:rPr>
              <a:t>10,05</a:t>
            </a:r>
            <a:r>
              <a:rPr lang="en-US" sz="1600" b="1" noProof="0" dirty="0">
                <a:solidFill>
                  <a:srgbClr val="202124"/>
                </a:solidFill>
              </a:rPr>
              <a:t>%</a:t>
            </a:r>
            <a:r>
              <a:rPr lang="en-US" sz="1600" noProof="0" dirty="0">
                <a:solidFill>
                  <a:srgbClr val="202124"/>
                </a:solidFill>
              </a:rPr>
              <a:t> of all processes</a:t>
            </a:r>
            <a:endParaRPr lang="en-US" sz="1600" noProof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 dirty="0">
                <a:highlight>
                  <a:srgbClr val="D8B35A"/>
                </a:highlight>
              </a:rPr>
              <a:t>Difference in median TPT: </a:t>
            </a:r>
            <a:r>
              <a:rPr lang="en-US" sz="1600" b="1" dirty="0">
                <a:highlight>
                  <a:srgbClr val="D8B35A"/>
                </a:highlight>
              </a:rPr>
              <a:t>+</a:t>
            </a:r>
            <a:r>
              <a:rPr lang="en-US" sz="1600" b="1" noProof="0" dirty="0">
                <a:highlight>
                  <a:srgbClr val="D8B35A"/>
                </a:highlight>
              </a:rPr>
              <a:t> </a:t>
            </a:r>
            <a:r>
              <a:rPr lang="en-US" sz="1600" b="1" dirty="0">
                <a:highlight>
                  <a:srgbClr val="D8B35A"/>
                </a:highlight>
              </a:rPr>
              <a:t>19,5</a:t>
            </a:r>
            <a:r>
              <a:rPr lang="en-US" sz="1600" b="1" noProof="0" dirty="0">
                <a:highlight>
                  <a:srgbClr val="D8B35A"/>
                </a:highlight>
              </a:rPr>
              <a:t> days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94EE15E-62AB-4793-C12C-9462FF2CB031}"/>
              </a:ext>
            </a:extLst>
          </p:cNvPr>
          <p:cNvSpPr txBox="1"/>
          <p:nvPr/>
        </p:nvSpPr>
        <p:spPr>
          <a:xfrm>
            <a:off x="177531" y="2392514"/>
            <a:ext cx="4822745" cy="52322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 dirty="0"/>
              <a:t>Customer distribution for orders with credit order blocks</a:t>
            </a:r>
            <a:endParaRPr lang="de-DE" sz="1400" b="1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3AF7C37-7EE6-1DA4-3C24-3461EFFD1B3A}"/>
              </a:ext>
            </a:extLst>
          </p:cNvPr>
          <p:cNvSpPr/>
          <p:nvPr/>
        </p:nvSpPr>
        <p:spPr>
          <a:xfrm>
            <a:off x="5339081" y="1978015"/>
            <a:ext cx="45719" cy="4326319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3AFD79F-4D66-C059-A9B9-39D6D5EE4B3B}"/>
              </a:ext>
            </a:extLst>
          </p:cNvPr>
          <p:cNvSpPr txBox="1"/>
          <p:nvPr/>
        </p:nvSpPr>
        <p:spPr>
          <a:xfrm>
            <a:off x="6091729" y="4928102"/>
            <a:ext cx="4861535" cy="14157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 dirty="0">
                <a:solidFill>
                  <a:srgbClr val="202124"/>
                </a:solidFill>
                <a:highlight>
                  <a:srgbClr val="5FB3A2"/>
                </a:highlight>
              </a:rPr>
              <a:t>Key Message</a:t>
            </a:r>
          </a:p>
          <a:p>
            <a:r>
              <a:rPr lang="en-GB" sz="1400" dirty="0"/>
              <a:t>This execution gap is impactful but lacks a clear root cause.</a:t>
            </a:r>
          </a:p>
          <a:p>
            <a:br>
              <a:rPr lang="en-GB" sz="1400" dirty="0"/>
            </a:br>
            <a:r>
              <a:rPr lang="en-GB" sz="1400" dirty="0"/>
              <a:t>The broad customer distribution points to a systemic issue affecting smaller or infrequent buyers.</a:t>
            </a:r>
            <a:endParaRPr lang="en-US" sz="1400" dirty="0">
              <a:solidFill>
                <a:srgbClr val="202124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5BFE35F-0788-B872-F1C8-19C65B8F5B5E}"/>
              </a:ext>
            </a:extLst>
          </p:cNvPr>
          <p:cNvSpPr txBox="1"/>
          <p:nvPr/>
        </p:nvSpPr>
        <p:spPr>
          <a:xfrm>
            <a:off x="1034122" y="4852060"/>
            <a:ext cx="3362005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noProof="0" dirty="0">
                <a:solidFill>
                  <a:srgbClr val="1F4E4A"/>
                </a:solidFill>
              </a:rPr>
              <a:t>How to read: </a:t>
            </a:r>
            <a:r>
              <a:rPr lang="en-US" sz="1200" noProof="0" dirty="0">
                <a:solidFill>
                  <a:srgbClr val="1F4E4A"/>
                </a:solidFill>
              </a:rPr>
              <a:t>Customer impact is broadly distributed with no dominant customer segment.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7201D67-97DC-6559-DBBB-15441A2F4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9 </a:t>
            </a:r>
          </a:p>
        </p:txBody>
      </p:sp>
      <p:pic>
        <p:nvPicPr>
          <p:cNvPr id="15" name="Grafik 14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880D2C0D-D08C-F969-58C9-37A32C07E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11" y="2966980"/>
            <a:ext cx="4827816" cy="188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20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84F0-98AE-FD1C-A061-51B2EC2F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CD634-834D-1363-72A5-F40AB8FEE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1" y="78356"/>
            <a:ext cx="11145363" cy="965871"/>
          </a:xfrm>
        </p:spPr>
        <p:txBody>
          <a:bodyPr>
            <a:noAutofit/>
          </a:bodyPr>
          <a:lstStyle/>
          <a:p>
            <a:r>
              <a:rPr lang="en-GB" sz="3200" dirty="0"/>
              <a:t>Price changes after sale confirmation introduce significant rework and increase throughput time</a:t>
            </a:r>
            <a:endParaRPr lang="en-US" sz="3200" noProof="0" dirty="0"/>
          </a:p>
        </p:txBody>
      </p:sp>
      <p:pic>
        <p:nvPicPr>
          <p:cNvPr id="4" name="Grafik 3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06B206CB-63CE-2337-E3CE-7F25A869E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FDA28AA-3EF3-F8AB-5FEC-1DE16773662A}"/>
              </a:ext>
            </a:extLst>
          </p:cNvPr>
          <p:cNvSpPr txBox="1"/>
          <p:nvPr/>
        </p:nvSpPr>
        <p:spPr>
          <a:xfrm>
            <a:off x="340178" y="966107"/>
            <a:ext cx="73764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GAP </a:t>
            </a:r>
            <a:r>
              <a:rPr lang="en-US" b="1" noProof="0" dirty="0"/>
              <a:t>DEFINITION:</a:t>
            </a:r>
            <a:r>
              <a:rPr lang="en-US" noProof="0" dirty="0"/>
              <a:t> Price is changed any time </a:t>
            </a:r>
            <a:r>
              <a:rPr lang="en-US" b="1" i="1" noProof="0" dirty="0"/>
              <a:t>after </a:t>
            </a:r>
            <a:r>
              <a:rPr lang="en-US" noProof="0" dirty="0"/>
              <a:t>sale confirmation. 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4A9EEB-B929-0AE1-5E12-1B4B0BA693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10 </a:t>
            </a:r>
          </a:p>
        </p:txBody>
      </p:sp>
      <p:pic>
        <p:nvPicPr>
          <p:cNvPr id="11" name="Grafik 10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435C87F8-CCFF-E389-1362-BCC035756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696" y="2501899"/>
            <a:ext cx="3317293" cy="3727925"/>
          </a:xfrm>
          <a:prstGeom prst="rect">
            <a:avLst/>
          </a:prstGeom>
        </p:spPr>
      </p:pic>
      <p:pic>
        <p:nvPicPr>
          <p:cNvPr id="12" name="Grafik 11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53ED9A24-F5E2-D964-7FBA-0D77E2C5E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48" y="2501900"/>
            <a:ext cx="3164174" cy="3727925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33DE10E5-0230-C5E0-6193-DE0574BA8E6B}"/>
              </a:ext>
            </a:extLst>
          </p:cNvPr>
          <p:cNvSpPr txBox="1"/>
          <p:nvPr/>
        </p:nvSpPr>
        <p:spPr>
          <a:xfrm>
            <a:off x="7425563" y="4951003"/>
            <a:ext cx="3521837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 dirty="0">
                <a:solidFill>
                  <a:srgbClr val="202124"/>
                </a:solidFill>
                <a:highlight>
                  <a:srgbClr val="5FB3A2"/>
                </a:highlight>
              </a:rPr>
              <a:t>Key Message</a:t>
            </a:r>
          </a:p>
          <a:p>
            <a:r>
              <a:rPr lang="en-GB" sz="1400" dirty="0"/>
              <a:t>Post-confirmation price changes create systemic rework that significantly increases throughput time and planning instability.</a:t>
            </a:r>
            <a:endParaRPr lang="en-US" sz="1400" b="1" dirty="0">
              <a:solidFill>
                <a:srgbClr val="202124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B5FFDA3-5392-8C27-C53E-2AC9F192BFE8}"/>
              </a:ext>
            </a:extLst>
          </p:cNvPr>
          <p:cNvSpPr txBox="1"/>
          <p:nvPr/>
        </p:nvSpPr>
        <p:spPr>
          <a:xfrm>
            <a:off x="436948" y="1769249"/>
            <a:ext cx="53599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Throughput time distribution with and without post-confirmation price changes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2D65F49-A9C4-3FF8-88A3-801C48F68B08}"/>
              </a:ext>
            </a:extLst>
          </p:cNvPr>
          <p:cNvSpPr txBox="1"/>
          <p:nvPr/>
        </p:nvSpPr>
        <p:spPr>
          <a:xfrm>
            <a:off x="381942" y="2278558"/>
            <a:ext cx="4273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AFB3B2"/>
                </a:solidFill>
              </a:rPr>
              <a:t>Orders with post-confirmation price changes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39D3390-3B1F-A38D-2353-E824A88ADD14}"/>
              </a:ext>
            </a:extLst>
          </p:cNvPr>
          <p:cNvSpPr txBox="1"/>
          <p:nvPr/>
        </p:nvSpPr>
        <p:spPr>
          <a:xfrm>
            <a:off x="3854696" y="2292899"/>
            <a:ext cx="4273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AFB3B2"/>
                </a:solidFill>
              </a:rPr>
              <a:t>Happy Path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82B87B8-5855-EC75-2609-5AD08A4348CE}"/>
              </a:ext>
            </a:extLst>
          </p:cNvPr>
          <p:cNvSpPr txBox="1"/>
          <p:nvPr/>
        </p:nvSpPr>
        <p:spPr>
          <a:xfrm>
            <a:off x="7414697" y="2171363"/>
            <a:ext cx="3875603" cy="25450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noProof="0" dirty="0">
                <a:solidFill>
                  <a:srgbClr val="202124"/>
                </a:solidFill>
                <a:highlight>
                  <a:srgbClr val="5FB3A2"/>
                </a:highlight>
              </a:rPr>
              <a:t>Urgency</a:t>
            </a:r>
            <a:endParaRPr lang="en-US" noProof="0" dirty="0">
              <a:solidFill>
                <a:srgbClr val="202124"/>
              </a:solidFill>
              <a:highlight>
                <a:srgbClr val="5FB3A2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Affects</a:t>
            </a:r>
            <a:r>
              <a:rPr lang="en-US" sz="1600" noProof="0" dirty="0">
                <a:solidFill>
                  <a:srgbClr val="202124"/>
                </a:solidFill>
              </a:rPr>
              <a:t> </a:t>
            </a:r>
            <a:r>
              <a:rPr lang="en-US" sz="1600" b="1" noProof="0" dirty="0">
                <a:solidFill>
                  <a:srgbClr val="202124"/>
                </a:solidFill>
              </a:rPr>
              <a:t>~</a:t>
            </a:r>
            <a:r>
              <a:rPr lang="en-US" sz="1600" b="1" dirty="0">
                <a:solidFill>
                  <a:srgbClr val="202124"/>
                </a:solidFill>
              </a:rPr>
              <a:t>13</a:t>
            </a:r>
            <a:r>
              <a:rPr lang="en-US" sz="1600" b="1" noProof="0" dirty="0">
                <a:solidFill>
                  <a:srgbClr val="202124"/>
                </a:solidFill>
              </a:rPr>
              <a:t>%</a:t>
            </a:r>
            <a:r>
              <a:rPr lang="en-US" sz="1600" noProof="0" dirty="0">
                <a:solidFill>
                  <a:srgbClr val="202124"/>
                </a:solidFill>
              </a:rPr>
              <a:t> of all processes</a:t>
            </a:r>
            <a:endParaRPr lang="en-US" sz="1600" noProof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 dirty="0">
                <a:highlight>
                  <a:srgbClr val="D8B35A"/>
                </a:highlight>
              </a:rPr>
              <a:t>Difference in median TPT: </a:t>
            </a:r>
            <a:r>
              <a:rPr lang="en-US" sz="1600" b="1" dirty="0">
                <a:highlight>
                  <a:srgbClr val="D8B35A"/>
                </a:highlight>
              </a:rPr>
              <a:t>~20d</a:t>
            </a:r>
            <a:endParaRPr lang="en-US" sz="1600" b="1" noProof="0" dirty="0">
              <a:highlight>
                <a:srgbClr val="D8B35A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Missing price stability and governance after order confirmation leads to downstream rework and execution delays.</a:t>
            </a:r>
            <a:endParaRPr lang="en-US" sz="1600" b="1" noProof="0" dirty="0">
              <a:highlight>
                <a:srgbClr val="D8B35A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87226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E4CB2-7146-85D6-4E88-DB204B8C9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5BAFFE-92FC-E454-D442-D80173E0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1" y="452553"/>
            <a:ext cx="11145363" cy="965871"/>
          </a:xfrm>
        </p:spPr>
        <p:txBody>
          <a:bodyPr>
            <a:noAutofit/>
          </a:bodyPr>
          <a:lstStyle/>
          <a:p>
            <a:r>
              <a:rPr lang="en-GB" sz="3200" dirty="0"/>
              <a:t>Repeated production rescheduling is a systemic planning issue rather than an isolated execution failure</a:t>
            </a:r>
            <a:endParaRPr lang="en-US" sz="3200" noProof="0" dirty="0"/>
          </a:p>
        </p:txBody>
      </p:sp>
      <p:pic>
        <p:nvPicPr>
          <p:cNvPr id="4" name="Grafik 3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AA49E38D-B776-8C27-EA2E-1F38DA7F7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3FC2B82-C565-8FC9-0151-2EBA4244FDF3}"/>
              </a:ext>
            </a:extLst>
          </p:cNvPr>
          <p:cNvSpPr txBox="1"/>
          <p:nvPr/>
        </p:nvSpPr>
        <p:spPr>
          <a:xfrm>
            <a:off x="353785" y="1347107"/>
            <a:ext cx="94515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noProof="0" dirty="0"/>
              <a:t>GAP DEFINITION:</a:t>
            </a:r>
            <a:r>
              <a:rPr lang="en-US" noProof="0" dirty="0"/>
              <a:t> Production start date is changed </a:t>
            </a:r>
            <a:r>
              <a:rPr lang="en-US" b="1" i="1" noProof="0" dirty="0"/>
              <a:t>after </a:t>
            </a:r>
            <a:r>
              <a:rPr lang="en-US" noProof="0" dirty="0"/>
              <a:t>start of production.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7A55070C-A751-ECCE-D2A6-690AD50A31DB}"/>
              </a:ext>
            </a:extLst>
          </p:cNvPr>
          <p:cNvSpPr/>
          <p:nvPr/>
        </p:nvSpPr>
        <p:spPr>
          <a:xfrm>
            <a:off x="5339081" y="1978015"/>
            <a:ext cx="45719" cy="4326319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53C6902-552C-4C2B-7795-C96E981B7DE5}"/>
              </a:ext>
            </a:extLst>
          </p:cNvPr>
          <p:cNvSpPr txBox="1"/>
          <p:nvPr/>
        </p:nvSpPr>
        <p:spPr>
          <a:xfrm>
            <a:off x="775108" y="3285218"/>
            <a:ext cx="4120742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b="1" dirty="0">
                <a:solidFill>
                  <a:srgbClr val="202124"/>
                </a:solidFill>
                <a:ea typeface="Segoe UI"/>
                <a:cs typeface="Segoe UI"/>
              </a:rPr>
              <a:t>Factory</a:t>
            </a:r>
            <a:endParaRPr lang="en-US" dirty="0">
              <a:solidFill>
                <a:srgbClr val="202124"/>
              </a:solidFill>
              <a:ea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02124"/>
                </a:solidFill>
                <a:ea typeface="Segoe UI"/>
                <a:cs typeface="Segoe UI"/>
              </a:rPr>
              <a:t>Relatively stable across all factories, nothing unusual.</a:t>
            </a:r>
          </a:p>
          <a:p>
            <a:endParaRPr lang="en-US" sz="1600" dirty="0">
              <a:solidFill>
                <a:srgbClr val="202124"/>
              </a:solidFill>
              <a:ea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Unstable production planning and weak schedule freeze allow repeated replanning after production start.</a:t>
            </a:r>
            <a:endParaRPr lang="en-US" sz="1600" dirty="0">
              <a:solidFill>
                <a:srgbClr val="202124"/>
              </a:solidFill>
              <a:ea typeface="Segoe UI"/>
              <a:cs typeface="Segoe UI"/>
            </a:endParaRPr>
          </a:p>
          <a:p>
            <a:pPr algn="ctr"/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AE10B86-8F13-673E-99A1-754B0D03C5B7}"/>
              </a:ext>
            </a:extLst>
          </p:cNvPr>
          <p:cNvSpPr txBox="1"/>
          <p:nvPr/>
        </p:nvSpPr>
        <p:spPr>
          <a:xfrm>
            <a:off x="775108" y="2193052"/>
            <a:ext cx="3661901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noProof="0" dirty="0">
                <a:solidFill>
                  <a:srgbClr val="202124"/>
                </a:solidFill>
                <a:highlight>
                  <a:srgbClr val="5FB3A2"/>
                </a:highlight>
              </a:rPr>
              <a:t>Urgency</a:t>
            </a:r>
            <a:endParaRPr lang="en-US" noProof="0" dirty="0">
              <a:highlight>
                <a:srgbClr val="5FB3A2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Affects</a:t>
            </a:r>
            <a:r>
              <a:rPr lang="en-US" sz="1600" noProof="0" dirty="0">
                <a:solidFill>
                  <a:srgbClr val="202124"/>
                </a:solidFill>
              </a:rPr>
              <a:t> </a:t>
            </a:r>
            <a:r>
              <a:rPr lang="en-US" sz="1600" b="1" noProof="0" dirty="0">
                <a:solidFill>
                  <a:srgbClr val="202124"/>
                </a:solidFill>
              </a:rPr>
              <a:t>~</a:t>
            </a:r>
            <a:r>
              <a:rPr lang="en-US" sz="1600" b="1" dirty="0">
                <a:solidFill>
                  <a:srgbClr val="202124"/>
                </a:solidFill>
              </a:rPr>
              <a:t>48,3%</a:t>
            </a:r>
            <a:r>
              <a:rPr lang="en-US" sz="1600" noProof="0" dirty="0">
                <a:solidFill>
                  <a:srgbClr val="202124"/>
                </a:solidFill>
              </a:rPr>
              <a:t> of all processes</a:t>
            </a:r>
            <a:endParaRPr lang="en-US" sz="1600" b="1" noProof="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720BDF7-9F61-622F-F95F-0C4A54B1F4CC}"/>
              </a:ext>
            </a:extLst>
          </p:cNvPr>
          <p:cNvSpPr txBox="1"/>
          <p:nvPr/>
        </p:nvSpPr>
        <p:spPr>
          <a:xfrm>
            <a:off x="6958936" y="2180936"/>
            <a:ext cx="40549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 dirty="0"/>
              <a:t>Customer distribution for orders with repeated production rescheduling</a:t>
            </a:r>
            <a:endParaRPr lang="de-DE" sz="1100" b="1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C1CB1DF-EF69-AB7D-1FDC-2CDBC0F5189D}"/>
              </a:ext>
            </a:extLst>
          </p:cNvPr>
          <p:cNvSpPr txBox="1"/>
          <p:nvPr/>
        </p:nvSpPr>
        <p:spPr>
          <a:xfrm>
            <a:off x="5691523" y="5031506"/>
            <a:ext cx="405026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noProof="0" dirty="0">
                <a:solidFill>
                  <a:srgbClr val="1F4E4A"/>
                </a:solidFill>
              </a:rPr>
              <a:t>How to read:</a:t>
            </a:r>
            <a:r>
              <a:rPr lang="en-US" sz="1200" b="1" dirty="0">
                <a:solidFill>
                  <a:srgbClr val="1F4E4A"/>
                </a:solidFill>
              </a:rPr>
              <a:t> </a:t>
            </a:r>
            <a:r>
              <a:rPr lang="en-GB" sz="1200" dirty="0">
                <a:solidFill>
                  <a:srgbClr val="1F4E4A"/>
                </a:solidFill>
              </a:rPr>
              <a:t>Each bar represents the number of orders with repeated production rescheduling per customer</a:t>
            </a:r>
            <a:endParaRPr lang="en-US" sz="1200" noProof="0" dirty="0">
              <a:solidFill>
                <a:srgbClr val="1F4E4A"/>
              </a:solidFill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17D7AC7-DFFF-FCB7-328C-CF75F9CF6C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11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A57D35A-34A0-C812-1730-1CD4C20CC9A3}"/>
              </a:ext>
            </a:extLst>
          </p:cNvPr>
          <p:cNvSpPr txBox="1"/>
          <p:nvPr/>
        </p:nvSpPr>
        <p:spPr>
          <a:xfrm>
            <a:off x="275649" y="5493171"/>
            <a:ext cx="4976366" cy="9848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 dirty="0">
                <a:solidFill>
                  <a:srgbClr val="202124"/>
                </a:solidFill>
                <a:highlight>
                  <a:srgbClr val="5FB3A2"/>
                </a:highlight>
              </a:rPr>
              <a:t>Key Message</a:t>
            </a:r>
          </a:p>
          <a:p>
            <a:r>
              <a:rPr lang="en-GB" sz="1400" dirty="0"/>
              <a:t>This execution gap affects nearly half of all processes and reflects a systemic planning issue rather than isolated execution failures.</a:t>
            </a:r>
            <a:endParaRPr lang="en-US" sz="1400" dirty="0">
              <a:solidFill>
                <a:srgbClr val="202124"/>
              </a:solidFill>
            </a:endParaRPr>
          </a:p>
        </p:txBody>
      </p:sp>
      <p:pic>
        <p:nvPicPr>
          <p:cNvPr id="6" name="Grafik 5" descr="Ein Bild, das Text, Screenshot, Display, Zahl enthält.&#10;&#10;KI-generierte Inhalte können fehlerhaft sein.">
            <a:extLst>
              <a:ext uri="{FF2B5EF4-FFF2-40B4-BE49-F238E27FC236}">
                <a16:creationId xmlns:a16="http://schemas.microsoft.com/office/drawing/2014/main" id="{656F4141-4AB1-3AE9-7640-11695B6F8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780" y="2756807"/>
            <a:ext cx="5821136" cy="222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8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47C0-85A1-DF11-70A1-D8D605C35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81BEA3-E231-F5C5-82A9-4BCF5BB9C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1" y="17125"/>
            <a:ext cx="11145363" cy="965871"/>
          </a:xfrm>
        </p:spPr>
        <p:txBody>
          <a:bodyPr/>
          <a:lstStyle/>
          <a:p>
            <a:r>
              <a:rPr lang="en-US" noProof="0"/>
              <a:t>Targeted Management Actions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ED5EF970-7155-F388-F208-1AEB51B17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606430"/>
              </p:ext>
            </p:extLst>
          </p:nvPr>
        </p:nvGraphicFramePr>
        <p:xfrm>
          <a:off x="361950" y="1005870"/>
          <a:ext cx="11226812" cy="45538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3920">
                  <a:extLst>
                    <a:ext uri="{9D8B030D-6E8A-4147-A177-3AD203B41FA5}">
                      <a16:colId xmlns:a16="http://schemas.microsoft.com/office/drawing/2014/main" val="749538409"/>
                    </a:ext>
                  </a:extLst>
                </a:gridCol>
                <a:gridCol w="1605482">
                  <a:extLst>
                    <a:ext uri="{9D8B030D-6E8A-4147-A177-3AD203B41FA5}">
                      <a16:colId xmlns:a16="http://schemas.microsoft.com/office/drawing/2014/main" val="4094645493"/>
                    </a:ext>
                  </a:extLst>
                </a:gridCol>
                <a:gridCol w="2789464">
                  <a:extLst>
                    <a:ext uri="{9D8B030D-6E8A-4147-A177-3AD203B41FA5}">
                      <a16:colId xmlns:a16="http://schemas.microsoft.com/office/drawing/2014/main" val="434330125"/>
                    </a:ext>
                  </a:extLst>
                </a:gridCol>
                <a:gridCol w="1409015">
                  <a:extLst>
                    <a:ext uri="{9D8B030D-6E8A-4147-A177-3AD203B41FA5}">
                      <a16:colId xmlns:a16="http://schemas.microsoft.com/office/drawing/2014/main" val="251361997"/>
                    </a:ext>
                  </a:extLst>
                </a:gridCol>
                <a:gridCol w="939374">
                  <a:extLst>
                    <a:ext uri="{9D8B030D-6E8A-4147-A177-3AD203B41FA5}">
                      <a16:colId xmlns:a16="http://schemas.microsoft.com/office/drawing/2014/main" val="1342523855"/>
                    </a:ext>
                  </a:extLst>
                </a:gridCol>
                <a:gridCol w="1284075">
                  <a:extLst>
                    <a:ext uri="{9D8B030D-6E8A-4147-A177-3AD203B41FA5}">
                      <a16:colId xmlns:a16="http://schemas.microsoft.com/office/drawing/2014/main" val="3162073393"/>
                    </a:ext>
                  </a:extLst>
                </a:gridCol>
                <a:gridCol w="1605482">
                  <a:extLst>
                    <a:ext uri="{9D8B030D-6E8A-4147-A177-3AD203B41FA5}">
                      <a16:colId xmlns:a16="http://schemas.microsoft.com/office/drawing/2014/main" val="633141770"/>
                    </a:ext>
                  </a:extLst>
                </a:gridCol>
              </a:tblGrid>
              <a:tr h="738436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Identified Gap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Gap Category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Management Action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Action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/>
                        <a:t>Business 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/>
                        <a:t>Implementation Effort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Control KPI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8730367"/>
                  </a:ext>
                </a:extLst>
              </a:tr>
              <a:tr h="738436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Late quantity changes after load shipment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Execution Gap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GB" sz="800" b="1" dirty="0"/>
                        <a:t>Standardize and enforce pre-loading quantity validation at affected sites</a:t>
                      </a:r>
                      <a:r>
                        <a:rPr lang="en-GB" sz="800" dirty="0"/>
                        <a:t> (Essen, Bonn) to eliminate late shipment corrections. + Introduce mandatory pre-load checks (digital checklist / scan-based validation) at shipment release.</a:t>
                      </a:r>
                      <a:endParaRPr lang="de-DE" sz="700" dirty="0">
                        <a:solidFill>
                          <a:srgbClr val="202124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/>
                        <a:t>IMMEDIATE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LOW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% qty changes post-shipment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525164"/>
                  </a:ext>
                </a:extLst>
              </a:tr>
              <a:tr h="817086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Credit blocks with downstream rework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Control / Compliance Gap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1" dirty="0"/>
                        <a:t>Introduce a tiered credit approval model </a:t>
                      </a:r>
                      <a:r>
                        <a:rPr lang="en-GB" sz="800" b="0" dirty="0"/>
                        <a:t>to reduce unnecessary post-release credit blocks. </a:t>
                      </a:r>
                      <a:r>
                        <a:rPr lang="en-GB" sz="800" dirty="0"/>
                        <a:t>Auto-approve low-value orders for established EU customers; restrict manual checks to new or high-risk accounts.</a:t>
                      </a:r>
                      <a:endParaRPr lang="en-GB" sz="800" b="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/>
                        <a:t>IMMEDIATE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MEDIUM -</a:t>
                      </a:r>
                    </a:p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HIGH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% of orders blocked by credit checks</a:t>
                      </a:r>
                      <a:endParaRPr lang="en-US" sz="1000" noProof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117430"/>
                  </a:ext>
                </a:extLst>
              </a:tr>
              <a:tr h="738436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Sales price rework after confirmation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Commercial / Policy Gap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/>
                        <a:t>Increase transparency on post-confirmation price changes</a:t>
                      </a:r>
                      <a:r>
                        <a:rPr lang="en-GB" sz="800" dirty="0"/>
                        <a:t> and actively monitor their frequency and impact. Introduce soft approval thresholds only if price rework remains frequent or value-relevant.</a:t>
                      </a:r>
                      <a:endParaRPr lang="en-US" sz="700" noProof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/>
                        <a:t>MONITOR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rgbClr val="202124"/>
                          </a:solidFill>
                        </a:rPr>
                        <a:t>(HIGH)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LOW -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MEDIUM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% prices changes post sale conformation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700788"/>
                  </a:ext>
                </a:extLst>
              </a:tr>
              <a:tr h="738436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Repeated production start date changes after production start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Planning &amp; Coordination Gap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GB" sz="800" b="1" dirty="0"/>
                        <a:t>Establish visibility on post-start rescheduling </a:t>
                      </a:r>
                      <a:r>
                        <a:rPr lang="en-GB" sz="800" dirty="0"/>
                        <a:t>and its drivers before introducing stricter change controls. Escalate to formal approval rules only if repeated rescheduling continues to destabilize planning reliability.</a:t>
                      </a:r>
                      <a:endParaRPr lang="de-DE" sz="7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/>
                        <a:t>MONITOR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MEDIUM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% production start date changes after start production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983424"/>
                  </a:ext>
                </a:extLst>
              </a:tr>
              <a:tr h="783041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Timestamp inconsistencies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Data / Technical Artifact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GB" sz="800" b="1" dirty="0"/>
                        <a:t>Handle timestamp inconsistencies analytically rather than operationally</a:t>
                      </a:r>
                      <a:r>
                        <a:rPr lang="en-GB" sz="800" dirty="0"/>
                        <a:t>. Use business-based sequencing logic and plausibility checks; document logging limitations as a future IT enablement topic.</a:t>
                      </a:r>
                      <a:endParaRPr lang="de-DE" sz="7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/>
                        <a:t>AVOID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MEDIUM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 dirty="0"/>
                        <a:t>Data Quality checks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65746"/>
                  </a:ext>
                </a:extLst>
              </a:tr>
            </a:tbl>
          </a:graphicData>
        </a:graphic>
      </p:graphicFrame>
      <p:pic>
        <p:nvPicPr>
          <p:cNvPr id="9" name="Grafik 8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CFDD91A6-0E9B-C2DD-9366-7D10C31C3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84B04F7-ECC8-715D-507B-48FA47EC2238}"/>
              </a:ext>
            </a:extLst>
          </p:cNvPr>
          <p:cNvSpPr txBox="1"/>
          <p:nvPr/>
        </p:nvSpPr>
        <p:spPr>
          <a:xfrm>
            <a:off x="5491719" y="5859445"/>
            <a:ext cx="5424961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 dirty="0">
                <a:solidFill>
                  <a:srgbClr val="202124"/>
                </a:solidFill>
                <a:highlight>
                  <a:srgbClr val="5FB3A2"/>
                </a:highlight>
              </a:rPr>
              <a:t>Key Message</a:t>
            </a:r>
          </a:p>
          <a:p>
            <a:pPr>
              <a:buNone/>
            </a:pPr>
            <a:r>
              <a:rPr lang="en-GB" sz="1400" dirty="0"/>
              <a:t>Differentiated, gap-specific actions deliver higher impact and lower effort than broad, end-to-end process redesign.</a:t>
            </a:r>
            <a:endParaRPr lang="en-US" sz="1400" b="1" noProof="0" dirty="0">
              <a:solidFill>
                <a:srgbClr val="202124"/>
              </a:solidFill>
              <a:highlight>
                <a:srgbClr val="5FB3A2"/>
              </a:highlight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3EBDF4C-9698-BC8A-5ADC-069CC5AB9EB1}"/>
              </a:ext>
            </a:extLst>
          </p:cNvPr>
          <p:cNvSpPr txBox="1"/>
          <p:nvPr/>
        </p:nvSpPr>
        <p:spPr>
          <a:xfrm>
            <a:off x="351310" y="5951777"/>
            <a:ext cx="50334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noProof="0" dirty="0">
                <a:solidFill>
                  <a:srgbClr val="1F4E4A"/>
                </a:solidFill>
              </a:rPr>
              <a:t>How to read:</a:t>
            </a:r>
            <a:r>
              <a:rPr lang="en-US" sz="1200" noProof="0" dirty="0">
                <a:solidFill>
                  <a:srgbClr val="1F4E4A"/>
                </a:solidFill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000" dirty="0">
                <a:solidFill>
                  <a:srgbClr val="1F4E4A"/>
                </a:solidFill>
              </a:rPr>
              <a:t>The table links identified O2C execution gaps to issue based categories, prioritized management actions, and control KPIs based on impact and implementation effort.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E50B0C7-C9F6-9A79-330C-FEC39C31C3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12 </a:t>
            </a:r>
          </a:p>
        </p:txBody>
      </p:sp>
    </p:spTree>
    <p:extLst>
      <p:ext uri="{BB962C8B-B14F-4D97-AF65-F5344CB8AC3E}">
        <p14:creationId xmlns:p14="http://schemas.microsoft.com/office/powerpoint/2010/main" val="2101857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64294-BB71-0D46-938D-D09B6CB18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AC46E0-9597-A458-D20F-3901C2E5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410" y="2207232"/>
            <a:ext cx="11145363" cy="965871"/>
          </a:xfrm>
        </p:spPr>
        <p:txBody>
          <a:bodyPr>
            <a:normAutofit/>
          </a:bodyPr>
          <a:lstStyle/>
          <a:p>
            <a:r>
              <a:rPr lang="en-US" sz="2400" noProof="0">
                <a:solidFill>
                  <a:srgbClr val="202124"/>
                </a:solidFill>
                <a:latin typeface="+mn-lt"/>
              </a:rPr>
              <a:t>Thank you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CEC34B3-56D2-8292-3860-D606AD6506A7}"/>
              </a:ext>
            </a:extLst>
          </p:cNvPr>
          <p:cNvSpPr txBox="1"/>
          <p:nvPr/>
        </p:nvSpPr>
        <p:spPr>
          <a:xfrm>
            <a:off x="2272410" y="3173103"/>
            <a:ext cx="56893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noProof="0" dirty="0" err="1">
                <a:solidFill>
                  <a:srgbClr val="8FA3A1"/>
                </a:solidFill>
              </a:rPr>
              <a:t>Woodcorp</a:t>
            </a:r>
            <a:r>
              <a:rPr lang="en-US" sz="1000" b="1" noProof="0" dirty="0">
                <a:solidFill>
                  <a:srgbClr val="8FA3A1"/>
                </a:solidFill>
              </a:rPr>
              <a:t> – Order-to-Cash Process Analysis</a:t>
            </a:r>
          </a:p>
          <a:p>
            <a:r>
              <a:rPr lang="en-US" sz="1000" noProof="0" dirty="0">
                <a:solidFill>
                  <a:srgbClr val="8FA3A1"/>
                </a:solidFill>
              </a:rPr>
              <a:t>· Tools: </a:t>
            </a:r>
            <a:r>
              <a:rPr lang="en-US" sz="1000" noProof="0" dirty="0" err="1">
                <a:solidFill>
                  <a:srgbClr val="8FA3A1"/>
                </a:solidFill>
              </a:rPr>
              <a:t>Celonis</a:t>
            </a:r>
            <a:r>
              <a:rPr lang="en-US" sz="1000" noProof="0" dirty="0">
                <a:solidFill>
                  <a:srgbClr val="8FA3A1"/>
                </a:solidFill>
              </a:rPr>
              <a:t> (process mining platform), Python</a:t>
            </a:r>
          </a:p>
          <a:p>
            <a:r>
              <a:rPr lang="en-US" sz="1000" noProof="0" dirty="0">
                <a:solidFill>
                  <a:srgbClr val="8FA3A1"/>
                </a:solidFill>
              </a:rPr>
              <a:t>· </a:t>
            </a:r>
            <a:r>
              <a:rPr lang="en-US" sz="1000" dirty="0">
                <a:solidFill>
                  <a:srgbClr val="8FA3A1"/>
                </a:solidFill>
              </a:rPr>
              <a:t>A</a:t>
            </a:r>
            <a:r>
              <a:rPr lang="en-US" sz="1000" noProof="0" dirty="0" err="1">
                <a:solidFill>
                  <a:srgbClr val="8FA3A1"/>
                </a:solidFill>
              </a:rPr>
              <a:t>nalyst</a:t>
            </a:r>
            <a:r>
              <a:rPr lang="en-US" sz="1000" noProof="0" dirty="0">
                <a:solidFill>
                  <a:srgbClr val="8FA3A1"/>
                </a:solidFill>
              </a:rPr>
              <a:t>: Jan Krings</a:t>
            </a:r>
          </a:p>
          <a:p>
            <a:endParaRPr lang="en-US" sz="1000" noProof="0" dirty="0">
              <a:solidFill>
                <a:srgbClr val="8FA3A1"/>
              </a:solidFill>
            </a:endParaRPr>
          </a:p>
          <a:p>
            <a:r>
              <a:rPr lang="en-US" sz="1000" i="1" noProof="0" dirty="0">
                <a:solidFill>
                  <a:srgbClr val="8FA3A1"/>
                </a:solidFill>
              </a:rPr>
              <a:t>Fictitious company · Data synthesized</a:t>
            </a:r>
            <a:endParaRPr lang="en-US" sz="1000" b="1" i="1" noProof="0" dirty="0">
              <a:solidFill>
                <a:srgbClr val="8FA3A1"/>
              </a:solidFill>
            </a:endParaRPr>
          </a:p>
          <a:p>
            <a:endParaRPr lang="en-US" sz="1000" noProof="0" dirty="0"/>
          </a:p>
          <a:p>
            <a:pPr>
              <a:buNone/>
            </a:pPr>
            <a:endParaRPr lang="en-US" sz="1000" noProof="0" dirty="0">
              <a:solidFill>
                <a:srgbClr val="8FA3A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C2502E-8B2E-6FCD-A3D9-4B367291506B}"/>
              </a:ext>
            </a:extLst>
          </p:cNvPr>
          <p:cNvSpPr txBox="1"/>
          <p:nvPr/>
        </p:nvSpPr>
        <p:spPr>
          <a:xfrm>
            <a:off x="406664" y="900314"/>
            <a:ext cx="91056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noProof="0">
                <a:solidFill>
                  <a:srgbClr val="1F4E4A"/>
                </a:solidFill>
              </a:rPr>
              <a:t>Key Takeaway for Management</a:t>
            </a:r>
            <a:br>
              <a:rPr lang="en-US" sz="3200" noProof="0">
                <a:solidFill>
                  <a:srgbClr val="1F4E4A"/>
                </a:solidFill>
              </a:rPr>
            </a:br>
            <a:r>
              <a:rPr lang="en-US" sz="3200" noProof="0">
                <a:solidFill>
                  <a:srgbClr val="1F4E4A"/>
                </a:solidFill>
              </a:rPr>
              <a:t>Execution variability is not a data problem.</a:t>
            </a:r>
          </a:p>
          <a:p>
            <a:r>
              <a:rPr lang="en-US" sz="3200" noProof="0">
                <a:solidFill>
                  <a:srgbClr val="1F4E4A"/>
                </a:solidFill>
              </a:rPr>
              <a:t>It is a governance problem.</a:t>
            </a:r>
          </a:p>
        </p:txBody>
      </p:sp>
      <p:pic>
        <p:nvPicPr>
          <p:cNvPr id="6" name="Grafik 5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3CA14987-519B-DD17-D488-74B166AA7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15" y="2735100"/>
            <a:ext cx="1651000" cy="138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6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Teal Green - Portfolio">
      <a:dk1>
        <a:srgbClr val="202124"/>
      </a:dk1>
      <a:lt1>
        <a:srgbClr val="F3F6F6"/>
      </a:lt1>
      <a:dk2>
        <a:srgbClr val="1F4E4A"/>
      </a:dk2>
      <a:lt2>
        <a:srgbClr val="E7EFEF"/>
      </a:lt2>
      <a:accent1>
        <a:srgbClr val="5FB3A2"/>
      </a:accent1>
      <a:accent2>
        <a:srgbClr val="D8B35A"/>
      </a:accent2>
      <a:accent3>
        <a:srgbClr val="8FA3A1"/>
      </a:accent3>
      <a:accent4>
        <a:srgbClr val="9ED6CB"/>
      </a:accent4>
      <a:accent5>
        <a:srgbClr val="6B7F8C"/>
      </a:accent5>
      <a:accent6>
        <a:srgbClr val="CCCCCC"/>
      </a:accent6>
      <a:hlink>
        <a:srgbClr val="5FB3A2"/>
      </a:hlink>
      <a:folHlink>
        <a:srgbClr val="4A8F84"/>
      </a:folHlink>
    </a:clrScheme>
    <a:fontScheme name="Benutzerdefiniert 1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FBAE5E3CCC7E5418CF9C97F6CC23D76" ma:contentTypeVersion="3" ma:contentTypeDescription="Ein neues Dokument erstellen." ma:contentTypeScope="" ma:versionID="e627c0714a4ea731599fb2eb61668b3c">
  <xsd:schema xmlns:xsd="http://www.w3.org/2001/XMLSchema" xmlns:xs="http://www.w3.org/2001/XMLSchema" xmlns:p="http://schemas.microsoft.com/office/2006/metadata/properties" xmlns:ns2="7dd8f8da-3fea-440f-861b-c9b12a4b1a36" targetNamespace="http://schemas.microsoft.com/office/2006/metadata/properties" ma:root="true" ma:fieldsID="0523a9b3edde830b47f3e28dc566a25b" ns2:_="">
    <xsd:import namespace="7dd8f8da-3fea-440f-861b-c9b12a4b1a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d8f8da-3fea-440f-861b-c9b12a4b1a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24821D-6035-4161-A1B2-0B81B9359323}">
  <ds:schemaRefs>
    <ds:schemaRef ds:uri="7dd8f8da-3fea-440f-861b-c9b12a4b1a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1229FC3-9095-48CD-B328-E8B96D57EFC0}">
  <ds:schemaRefs>
    <ds:schemaRef ds:uri="http://purl.org/dc/dcmitype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7dd8f8da-3fea-440f-861b-c9b12a4b1a36"/>
  </ds:schemaRefs>
</ds:datastoreItem>
</file>

<file path=customXml/itemProps3.xml><?xml version="1.0" encoding="utf-8"?>
<ds:datastoreItem xmlns:ds="http://schemas.openxmlformats.org/officeDocument/2006/customXml" ds:itemID="{7872D68B-3942-442C-A529-C4B231C03D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2175</Words>
  <Application>Microsoft Office PowerPoint</Application>
  <PresentationFormat>Breitbild</PresentationFormat>
  <Paragraphs>360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Aptos</vt:lpstr>
      <vt:lpstr>Arial</vt:lpstr>
      <vt:lpstr>IBM Plex Sans</vt:lpstr>
      <vt:lpstr>IBM Plex Sans SemiBold</vt:lpstr>
      <vt:lpstr>Segoe UI</vt:lpstr>
      <vt:lpstr>Office</vt:lpstr>
      <vt:lpstr>Execution Deviations in the Order-to-Cash Process</vt:lpstr>
      <vt:lpstr>Woodcorp’s operating model structurally amplifies O2C execution deviations</vt:lpstr>
      <vt:lpstr>O2C Execution Deviations Undermine Planning Stability and Require Targeted Management Action</vt:lpstr>
      <vt:lpstr>Operational Issue Requires Two Different Management Responses</vt:lpstr>
      <vt:lpstr>Execution Deviations After Order Release Drive ~4 Days of Delay</vt:lpstr>
      <vt:lpstr>A Small Number of Post-Release Rework Patterns Drives Most O2C Delays</vt:lpstr>
      <vt:lpstr>Two Post-Release Execution Gaps Require Immediate Management Attention</vt:lpstr>
      <vt:lpstr>Combining lateness, quantity deviations, value exposure, and frequency enables impact based prioritization</vt:lpstr>
      <vt:lpstr>Post loading quantity corrections affect few orders but drive disproportionate delay and value exposure</vt:lpstr>
      <vt:lpstr>Credit blocks create severe delays for a relevant share of orders but lack a single dominant root cause</vt:lpstr>
      <vt:lpstr>Price changes after sale confirmation introduce significant rework and increase throughput time</vt:lpstr>
      <vt:lpstr>Repeated production rescheduling is a systemic planning issue rather than an isolated execution failure</vt:lpstr>
      <vt:lpstr>Targeted Management Actions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Lucas Krings (jkrings1)</dc:creator>
  <cp:lastModifiedBy>Jan Lucas Krings (jkrings1)</cp:lastModifiedBy>
  <cp:revision>2</cp:revision>
  <dcterms:created xsi:type="dcterms:W3CDTF">2026-01-06T14:36:09Z</dcterms:created>
  <dcterms:modified xsi:type="dcterms:W3CDTF">2026-01-29T21:01:59Z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0x010100EFBAE5E3CCC7E5418CF9C97F6CC23D76</vt:lpwstr>
  </property>
</Properties>
</file>